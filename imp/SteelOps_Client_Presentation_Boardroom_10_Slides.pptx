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916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Background visual: AI-generated internal concept image, no external asset.
Claims context from: Tata Steel Integrated Report FY2024-25 (digitalisation and supply-chain optimisation), Reuters 2026 report on draft National Steel Policy 2025, JSW Steel corporate presentation (bulk raw material supply-chain digitalization), AM/NS India press releases on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Claims: Reuters, April 9 2026, draft National Steel Policy 2025 (capacity target 400 MT; coking coal dependence reduction) turn1view4. Tata Steel Integrated Report FY2024-25 pages 5 and 42 (digitalisation, supply-chain optimisation, ~105 MT movement) turn1view1 lines 115-120 and 4311-4320. JSW Steel corporate presentation May 2023 (bulk raw material supply chain digitalization; integrated control tower) turn2search3. AM/NS India public updates on Hazira expansion momentum to 15 MT by end-2026 from prior research results turn0search7/12/17.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 external factual claim beyond general product framing; narrative derived from internal blueprint and user-provided operating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Product definition derived from user-provided blueprint and internal product scoping; no external assets or non-trivial public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System flow is internal product architecture derived from user-provided blueprint and implemented build sequence; no external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Data approach derived from implemented MVP design and user-provided blueprint; no external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Illustrative internal product screenshot built for presentation; no external asset. Dashboard values are mock data for demonstration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Illustrative internal product screenshots built for presentation; no external assets.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Pilot structure and KPI framing derive from user-provided blueprint and prior internal build plan; no external factual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Public company context from Tata Steel FY2024-25 integrated report turn1view1, JSW Steel digital bulk raw material supply-chain references turn2search3/9, AM/NS India expansion context from press releases turn1view3. Regional context also informed by Bokaro/Jharkhand public references from prior research turn0search8/23.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2011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9324D"/>
                </a:solidFill>
              </a:rPr>
              <a:t>SteelOps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03504" y="621792"/>
            <a:ext cx="1097280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a_collage_of_four_slides_from_a_comprehensive_ste_batch_1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7726680" y="914400"/>
            <a:ext cx="3291840" cy="4937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10058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Steel Inbound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Control Tower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49808" y="22402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6E2F0"/>
                </a:solidFill>
              </a:rPr>
              <a:t>Boardroom-ready strategy, product narrative, pilot roadmap, and India-first customer acquisition story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68096" y="3154680"/>
            <a:ext cx="2057400" cy="310896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DEEFF"/>
                </a:solidFill>
              </a:rPr>
              <a:t>Steel-specific, not generic</a:t>
            </a:r>
            <a:endParaRPr lang="en-US" sz="920" dirty="0"/>
          </a:p>
        </p:txBody>
      </p:sp>
      <p:sp>
        <p:nvSpPr>
          <p:cNvPr id="7" name="Text 4"/>
          <p:cNvSpPr/>
          <p:nvPr/>
        </p:nvSpPr>
        <p:spPr>
          <a:xfrm>
            <a:off x="2907792" y="3154680"/>
            <a:ext cx="1463040" cy="310896"/>
          </a:xfrm>
          <a:prstGeom prst="rect">
            <a:avLst/>
          </a:prstGeom>
          <a:solidFill>
            <a:srgbClr val="143B2F"/>
          </a:solidFill>
          <a:ln>
            <a:solidFill>
              <a:srgbClr val="143B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FF6EA"/>
                </a:solidFill>
              </a:rPr>
              <a:t>Pilot-ready</a:t>
            </a:r>
            <a:endParaRPr lang="en-US" sz="920" dirty="0"/>
          </a:p>
        </p:txBody>
      </p:sp>
      <p:sp>
        <p:nvSpPr>
          <p:cNvPr id="8" name="Text 5"/>
          <p:cNvSpPr/>
          <p:nvPr/>
        </p:nvSpPr>
        <p:spPr>
          <a:xfrm>
            <a:off x="4453128" y="3154680"/>
            <a:ext cx="1353312" cy="310896"/>
          </a:xfrm>
          <a:prstGeom prst="rect">
            <a:avLst/>
          </a:prstGeom>
          <a:solidFill>
            <a:srgbClr val="4A2A11"/>
          </a:solidFill>
          <a:ln>
            <a:solidFill>
              <a:srgbClr val="4A2A1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8D0"/>
                </a:solidFill>
              </a:rPr>
              <a:t>India-first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768096" y="38404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What the buyer understands in one look: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5528" y="416966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DD3FF"/>
          </a:solidFill>
          <a:ln w="12700">
            <a:solidFill>
              <a:srgbClr val="6D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87552" y="408736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F2FA"/>
                </a:solidFill>
              </a:rPr>
              <a:t>Why steel inbound risk is different from generic procurement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5528" y="462686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DD3FF"/>
          </a:solidFill>
          <a:ln w="12700">
            <a:solidFill>
              <a:srgbClr val="6D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87552" y="454456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F2FA"/>
                </a:solidFill>
              </a:rPr>
              <a:t>How data flows from Excel, ERP, emails and vessel updates into one truth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5528" y="508406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DD3FF"/>
          </a:solidFill>
          <a:ln w="12700">
            <a:solidFill>
              <a:srgbClr val="6D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87552" y="500176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F2FA"/>
                </a:solidFill>
              </a:rPr>
              <a:t>What the dashboard shows and how teams act on exceptions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" y="554126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6DD3FF"/>
          </a:solidFill>
          <a:ln w="12700">
            <a:solidFill>
              <a:srgbClr val="6D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87552" y="545896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F2FA"/>
                </a:solidFill>
              </a:rPr>
              <a:t>How to land the first pilot with large Indian producers and eastern-belt plants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149840" y="2194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5E8FF"/>
                </a:solidFill>
              </a:rPr>
              <a:t>SteelOps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784080" y="63550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4D3E6"/>
                </a:solidFill>
              </a:rPr>
              <a:t>Client presentation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Why this matters now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India’s steel sector is expanding while raw-material security and operating coordination remain management-level concerns.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87552"/>
            <a:ext cx="21945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078992"/>
            <a:ext cx="54864" cy="749808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09728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India steel capacity 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400 MT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" y="1655064"/>
            <a:ext cx="1993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Draft policy target by 2035-36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980944" y="987552"/>
            <a:ext cx="21945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08376" y="1078992"/>
            <a:ext cx="54864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27248" y="109728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Coking coal dependence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27248" y="129844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~90%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27248" y="1655064"/>
            <a:ext cx="1993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Draft policy points to import dependence reduction need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03520" y="987552"/>
            <a:ext cx="21945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30952" y="1078992"/>
            <a:ext cx="54864" cy="749808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9824" y="109728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Tata supply-chain scale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9824" y="129844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105 MT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49824" y="1655064"/>
            <a:ext cx="1993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Raw materials, finished goods, scrap and by-products moved across India operations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26096" y="987552"/>
            <a:ext cx="21945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53528" y="1078992"/>
            <a:ext cx="54864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0" y="1097280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Expansion momentum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129844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</a:rPr>
              <a:t>15 MT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772400" y="1655064"/>
            <a:ext cx="19933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AM/NS Hazira target by end-2026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" y="224028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2468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Why a control tower wins now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14400" y="288036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70432" y="28620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Capacity growth creates more nominations, movements, berth events and inland dispatches.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70432" y="3099816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</a:rPr>
              <a:t>Operational complexity compounds even when procurement systems already exist.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914400" y="379476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70432" y="37764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Large producers already talk publicly about digitalisation, logistics and raw-material security.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70432" y="4014216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</a:rPr>
              <a:t>You are selling deeper operational control, not the idea that the problem exists.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914400" y="470916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70432" y="4690872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Integrated plants lose money when delays translate into stock-cover risk too late.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70432" y="4928616"/>
            <a:ext cx="4526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</a:rPr>
              <a:t>One prevented disruption or demurrage event can justify pilot spend.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272784" y="2240280"/>
            <a:ext cx="5230368" cy="3566160"/>
          </a:xfrm>
          <a:prstGeom prst="roundRect">
            <a:avLst>
              <a:gd name="adj" fmla="val 307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92240" y="24505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First-wave target fit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492240" y="2788920"/>
            <a:ext cx="4773168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492240" y="2788920"/>
            <a:ext cx="1050097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37960" y="2862072"/>
            <a:ext cx="95865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Target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42337" y="2788920"/>
            <a:ext cx="1909267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88057" y="2862072"/>
            <a:ext cx="181782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Why now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451604" y="2788920"/>
            <a:ext cx="1813804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497324" y="2862072"/>
            <a:ext cx="17223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Best wedge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92240" y="3118104"/>
            <a:ext cx="1050097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537960" y="3186684"/>
            <a:ext cx="95865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Tata Steel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542337" y="3118104"/>
            <a:ext cx="1909267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588057" y="3186684"/>
            <a:ext cx="181782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Complex network + digital maturity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451604" y="3118104"/>
            <a:ext cx="181380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497324" y="3186684"/>
            <a:ext cx="17223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One corridor / one exception class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92240" y="3419856"/>
            <a:ext cx="1050097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537960" y="3488436"/>
            <a:ext cx="95865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JSW Steel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542337" y="3419856"/>
            <a:ext cx="1909267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588057" y="3488436"/>
            <a:ext cx="181782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Raw-material security + digital bulk raw material programs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451604" y="3419856"/>
            <a:ext cx="1813804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497324" y="3488436"/>
            <a:ext cx="17223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Demurrage + stock-cover confidence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92240" y="3721608"/>
            <a:ext cx="1050097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537960" y="3790188"/>
            <a:ext cx="95865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AM/NS India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542337" y="3721608"/>
            <a:ext cx="1909267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588057" y="3790188"/>
            <a:ext cx="181782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Expansion momentum + scale-up discipline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451604" y="3721608"/>
            <a:ext cx="181380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497324" y="3790188"/>
            <a:ext cx="17223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Hazira inbound command center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492240" y="4023360"/>
            <a:ext cx="1050097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537960" y="4091940"/>
            <a:ext cx="95865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East-belt producers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542337" y="4023360"/>
            <a:ext cx="1909267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588057" y="4091940"/>
            <a:ext cx="181782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Regional proximity + visible logistics pain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451604" y="4023360"/>
            <a:ext cx="1813804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497324" y="4091940"/>
            <a:ext cx="17223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Single-plant pilot using uploads first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40080" y="644652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Steel-specific inbound control tower for raw-material continuity risk</a:t>
            </a:r>
            <a:endParaRPr lang="en-US" sz="85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The operating problem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Most companies already have data — they do not have one operating truth.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76656" y="1005840"/>
            <a:ext cx="5440680" cy="53492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22529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How the process runs now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1828800" cy="621792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E6ECF3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801368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ERP / SAP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98424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POs, receipts, inventory snapshots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880360" y="1819656"/>
            <a:ext cx="384048" cy="365760"/>
          </a:xfrm>
          <a:prstGeom prst="chevron">
            <a:avLst/>
          </a:prstGeom>
          <a:solidFill>
            <a:srgbClr val="D6E4F8"/>
          </a:solidFill>
          <a:ln w="12700">
            <a:solidFill>
              <a:srgbClr val="D6E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0" y="2313432"/>
            <a:ext cx="0" cy="32004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1828800" cy="621792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E6ECF3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2761488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Excel trackers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94436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Shipment sheets, ETA trackers, stock calculations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880360" y="2779776"/>
            <a:ext cx="384048" cy="365760"/>
          </a:xfrm>
          <a:prstGeom prst="chevron">
            <a:avLst/>
          </a:prstGeom>
          <a:solidFill>
            <a:srgbClr val="D6E4F8"/>
          </a:solidFill>
          <a:ln w="12700">
            <a:solidFill>
              <a:srgbClr val="D6E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0" y="3273552"/>
            <a:ext cx="0" cy="32004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4400" y="3611880"/>
            <a:ext cx="1828800" cy="621792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E6ECF3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3721608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WhatsApp / calls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90448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CHA updates, transporter messages, port exceptions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880360" y="3739896"/>
            <a:ext cx="384048" cy="365760"/>
          </a:xfrm>
          <a:prstGeom prst="chevron">
            <a:avLst/>
          </a:prstGeom>
          <a:solidFill>
            <a:srgbClr val="D6E4F8"/>
          </a:solidFill>
          <a:ln w="12700">
            <a:solidFill>
              <a:srgbClr val="D6E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0" y="4233672"/>
            <a:ext cx="0" cy="32004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4572000"/>
            <a:ext cx="1828800" cy="621792"/>
          </a:xfrm>
          <a:prstGeom prst="roundRect">
            <a:avLst>
              <a:gd name="adj" fmla="val 17647"/>
            </a:avLst>
          </a:prstGeom>
          <a:solidFill>
            <a:srgbClr val="F8FAFC"/>
          </a:solidFill>
          <a:ln w="12700">
            <a:solidFill>
              <a:srgbClr val="E6ECF3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51560" y="4681728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Daily review meetings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864608"/>
            <a:ext cx="1481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Manual reconciliation and fire-fighting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880360" y="4700016"/>
            <a:ext cx="384048" cy="365760"/>
          </a:xfrm>
          <a:prstGeom prst="chevron">
            <a:avLst/>
          </a:prstGeom>
          <a:solidFill>
            <a:srgbClr val="D6E4F8"/>
          </a:solidFill>
          <a:ln w="12700">
            <a:solidFill>
              <a:srgbClr val="D6E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01568" y="1682496"/>
            <a:ext cx="2331720" cy="3511296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21024" y="187452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goes wrong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657600" y="226771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58768" y="2176272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</a:rPr>
              <a:t>Vessel arrival and plant availability get treated as the same thing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0" y="2944368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8A65"/>
          </a:solidFill>
          <a:ln w="12700">
            <a:solidFill>
              <a:srgbClr val="FF8A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58768" y="28529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</a:rPr>
              <a:t>Delay information shows up in different teams at different times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0" y="362102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58768" y="352958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</a:rPr>
              <a:t>Stock cover is recalculated manually, often after the risk has moved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0" y="429768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58768" y="420624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6"/>
                </a:solidFill>
              </a:rPr>
              <a:t>Ownership during exceptions is implicit, not logged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1005840"/>
            <a:ext cx="5138928" cy="5349240"/>
          </a:xfrm>
          <a:prstGeom prst="roundRect">
            <a:avLst>
              <a:gd name="adj" fmla="val 2135"/>
            </a:avLst>
          </a:prstGeom>
          <a:solidFill>
            <a:srgbClr val="F9FBFD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65392" y="122529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What the buyer wants instead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565392" y="1627632"/>
            <a:ext cx="4572000" cy="1929384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65392" y="1627632"/>
            <a:ext cx="2057400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11112" y="1700784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Today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622792" y="1627632"/>
            <a:ext cx="2514600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668512" y="170078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SteelOps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65392" y="1956816"/>
            <a:ext cx="2057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611112" y="2025396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Multiple trackers by function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622792" y="1956816"/>
            <a:ext cx="2514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668512" y="2025396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One tenant-scoped command center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65392" y="2258568"/>
            <a:ext cx="2057400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611112" y="2327148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PO visibility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622792" y="2258568"/>
            <a:ext cx="2514600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668512" y="2327148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Material-state visibility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65392" y="2560320"/>
            <a:ext cx="2057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611112" y="2628900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Reactive calls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622792" y="2560320"/>
            <a:ext cx="2514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668512" y="2628900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Auto-opened exceptions + ownership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565392" y="2862072"/>
            <a:ext cx="2057400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11112" y="2930652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Purchased tonnes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622792" y="2862072"/>
            <a:ext cx="2514600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668512" y="2930652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Available-to-consume truth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565392" y="3163824"/>
            <a:ext cx="2057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611112" y="3232404"/>
            <a:ext cx="1965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Low trust in updates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622792" y="3163824"/>
            <a:ext cx="2514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668512" y="3232404"/>
            <a:ext cx="2423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Confidence + freshness shown openly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40080" y="644652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Steel-specific inbound control tower for raw-material continuity risk</a:t>
            </a:r>
            <a:endParaRPr lang="en-US" sz="85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What the product 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A steel-specific inbound decision layer beside ERP, not a generic procurement suite.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76656" y="987552"/>
            <a:ext cx="3749040" cy="5394960"/>
          </a:xfrm>
          <a:prstGeom prst="roundRect">
            <a:avLst>
              <a:gd name="adj" fmla="val 292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Core promise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1F8"/>
                </a:solidFill>
              </a:rPr>
              <a:t>Turn fragmented shipment, port, inland, stock and quality signals into one operating rhythm for procurement, logistics, planning and plant teams.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1325880" cy="2560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CEEFF"/>
                </a:solidFill>
              </a:rPr>
              <a:t>Live inbound truth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2395728" y="26791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5EEF7"/>
                </a:solidFill>
              </a:rPr>
              <a:t>Shipment, port and inland visibility tied to plant/material context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1325880" cy="2560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CEEFF"/>
                </a:solidFill>
              </a:rPr>
              <a:t>Days-of-cover risk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395728" y="33649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5EEF7"/>
                </a:solidFill>
              </a:rPr>
              <a:t>Available-to-consume logic, not just purchased tonnes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1325880" cy="2560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CEEFF"/>
                </a:solidFill>
              </a:rPr>
              <a:t>Exception ownership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395728" y="40507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5EEF7"/>
                </a:solidFill>
              </a:rPr>
              <a:t>Cases, comments, owners, status and closure trail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914400" y="4709160"/>
            <a:ext cx="1325880" cy="256032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CEEFF"/>
                </a:solidFill>
              </a:rPr>
              <a:t>Management visibility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2395728" y="47365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5EEF7"/>
                </a:solidFill>
              </a:rPr>
              <a:t>One sponsor view for critical risks and protected value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6839712" cy="53949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01184" y="123444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What it is / what it is not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01184" y="1627632"/>
            <a:ext cx="6364224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01184" y="1627632"/>
            <a:ext cx="3054828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46904" y="1700784"/>
            <a:ext cx="29633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What it 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56012" y="1627632"/>
            <a:ext cx="3309396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01732" y="1700784"/>
            <a:ext cx="32179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What it is not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01184" y="1956816"/>
            <a:ext cx="305482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46904" y="2025396"/>
            <a:ext cx="29633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Decision layer for inbound raw materials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956012" y="1956816"/>
            <a:ext cx="3309396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01732" y="2025396"/>
            <a:ext cx="32179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ERP replacement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01184" y="2258568"/>
            <a:ext cx="3054828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46904" y="2327148"/>
            <a:ext cx="29633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Operational truth across movement + stock + quality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956012" y="2258568"/>
            <a:ext cx="3309396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01732" y="2327148"/>
            <a:ext cx="32179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Just a vessel tracker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01184" y="2560320"/>
            <a:ext cx="305482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46904" y="2628900"/>
            <a:ext cx="29633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Workflow system for exceptions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956012" y="2560320"/>
            <a:ext cx="3309396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01732" y="2628900"/>
            <a:ext cx="32179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Static BI dashboard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01184" y="2862072"/>
            <a:ext cx="3054828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46904" y="2930652"/>
            <a:ext cx="29633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Predictive continuity-risk lens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956012" y="2862072"/>
            <a:ext cx="3309396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01732" y="2930652"/>
            <a:ext cx="32179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Generic source-to-pay platform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0" y="3730752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8FBFF"/>
          </a:solidFill>
          <a:ln w="12700">
            <a:solidFill>
              <a:srgbClr val="DBE6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12080" y="388620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Network overview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4087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Sponsor-level risk snapshot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046720" y="3730752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8FBFF"/>
          </a:solidFill>
          <a:ln w="12700">
            <a:solidFill>
              <a:srgbClr val="DBE6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229600" y="388620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Shipment visibility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9600" y="408736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Timeline, ETA and state contribution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5029200" y="4965192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8FBFF"/>
          </a:solidFill>
          <a:ln w="12700">
            <a:solidFill>
              <a:srgbClr val="DBE6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212080" y="512064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Stock-cover engine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12080" y="532180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Days-of-cover, breach date, confidence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8046720" y="4965192"/>
            <a:ext cx="2697480" cy="960120"/>
          </a:xfrm>
          <a:prstGeom prst="roundRect">
            <a:avLst>
              <a:gd name="adj" fmla="val 11429"/>
            </a:avLst>
          </a:prstGeom>
          <a:solidFill>
            <a:srgbClr val="F8FBFF"/>
          </a:solidFill>
          <a:ln w="12700">
            <a:solidFill>
              <a:srgbClr val="DBE6F5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229600" y="512064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Exception room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29600" y="532180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Owner, status, comments, next step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640080" y="644652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Steel-specific inbound control tower for raw-material continuity risk</a:t>
            </a:r>
            <a:endParaRPr lang="en-US" sz="8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How the system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The MVP is designed to start manual, then become progressively passive.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94944" y="132588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2104" y="1490472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" y="152704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9888" y="1490472"/>
            <a:ext cx="2194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1. Ingest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1892808"/>
            <a:ext cx="2706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CSV/XLSX uploads first; later email, AIS and ERP feeds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17136" y="132588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54296" y="1490472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54296" y="152704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1490472"/>
            <a:ext cx="2194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2. Normalize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1892808"/>
            <a:ext cx="2706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Resolve plant, material, shipment and threshold entities by tenant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554212" y="1357884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76488" y="1490472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76488" y="152704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34272" y="1490472"/>
            <a:ext cx="2194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3. Derive state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1892808"/>
            <a:ext cx="2706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On water, at port, discharging, inland, delivered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94944" y="356616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2104" y="3730752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2104" y="376732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89888" y="3730752"/>
            <a:ext cx="2194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4. Calculate risk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9536" y="4133088"/>
            <a:ext cx="2706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Days of cover, breach date, status, confidence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4517136" y="356616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54296" y="3730752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54296" y="376732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730752"/>
            <a:ext cx="2194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5. Open exceptions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81728" y="4133088"/>
            <a:ext cx="2706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Trigger cases for critical stock, ETA delay, stale updates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8367339" y="3671316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476488" y="3730752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76488" y="376732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34272" y="3730752"/>
            <a:ext cx="21945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6. Drive action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03920" y="4133088"/>
            <a:ext cx="2706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Assign owner, add notes, close the loop in one workflow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3858768" y="1984248"/>
            <a:ext cx="411480" cy="320040"/>
          </a:xfrm>
          <a:prstGeom prst="chevron">
            <a:avLst/>
          </a:prstGeom>
          <a:solidFill>
            <a:srgbClr val="D8E4F6"/>
          </a:solidFill>
          <a:ln w="12700">
            <a:solidFill>
              <a:srgbClr val="D8E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80960" y="1984248"/>
            <a:ext cx="411480" cy="320040"/>
          </a:xfrm>
          <a:prstGeom prst="chevron">
            <a:avLst/>
          </a:prstGeom>
          <a:solidFill>
            <a:srgbClr val="D8E4F6"/>
          </a:solidFill>
          <a:ln w="12700">
            <a:solidFill>
              <a:srgbClr val="D8E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858768" y="4224528"/>
            <a:ext cx="411480" cy="320040"/>
          </a:xfrm>
          <a:prstGeom prst="chevron">
            <a:avLst/>
          </a:prstGeom>
          <a:solidFill>
            <a:srgbClr val="D8E4F6"/>
          </a:solidFill>
          <a:ln w="12700">
            <a:solidFill>
              <a:srgbClr val="D8E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680960" y="4224528"/>
            <a:ext cx="411480" cy="320040"/>
          </a:xfrm>
          <a:prstGeom prst="chevron">
            <a:avLst/>
          </a:prstGeom>
          <a:solidFill>
            <a:srgbClr val="D8E4F6"/>
          </a:solidFill>
          <a:ln w="12700">
            <a:solidFill>
              <a:srgbClr val="D8E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49808" y="5806440"/>
            <a:ext cx="10735056" cy="384048"/>
          </a:xfrm>
          <a:prstGeom prst="roundRect">
            <a:avLst>
              <a:gd name="adj" fmla="val 28571"/>
            </a:avLst>
          </a:prstGeom>
          <a:solidFill>
            <a:srgbClr val="ECF3FF"/>
          </a:solidFill>
          <a:ln w="12700">
            <a:solidFill>
              <a:srgbClr val="CFE0FF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4400" y="5916168"/>
            <a:ext cx="10332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Onboarding truth: start with three files (shipments, stock snapshots, thresholds) → prove risk visibility in days → then layer in automation.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644652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Steel-specific inbound control tower for raw-material continuity risk</a:t>
            </a:r>
            <a:endParaRPr lang="en-US" sz="8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What data the system uses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The product works with imperfect, staged inputs instead of waiting for a perfect digital estate.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87552"/>
            <a:ext cx="5212080" cy="5440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Day-1 onboarding 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1627632"/>
            <a:ext cx="4782312" cy="1929384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627632"/>
            <a:ext cx="1291224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00784"/>
            <a:ext cx="1199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Input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59904" y="1627632"/>
            <a:ext cx="2104217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05624" y="1700784"/>
            <a:ext cx="201277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Used for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64122" y="1627632"/>
            <a:ext cx="1386870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09842" y="1700784"/>
            <a:ext cx="129543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MVP mode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1956816"/>
            <a:ext cx="12912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025396"/>
            <a:ext cx="1199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Shipment tracker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59904" y="1956816"/>
            <a:ext cx="2104217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05624" y="2025396"/>
            <a:ext cx="201277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Shipment master, ETA, quantity, route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64122" y="1956816"/>
            <a:ext cx="138687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09842" y="2025396"/>
            <a:ext cx="129543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Upload / XLSX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8680" y="2258568"/>
            <a:ext cx="1291224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2327148"/>
            <a:ext cx="1199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Stock snapshot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59904" y="2258568"/>
            <a:ext cx="2104217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05624" y="2327148"/>
            <a:ext cx="201277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Available stock + daily consumption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64122" y="2258568"/>
            <a:ext cx="1386870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09842" y="2327148"/>
            <a:ext cx="129543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Upload / CSV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68680" y="2560320"/>
            <a:ext cx="12912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2628900"/>
            <a:ext cx="1199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Threshold file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59904" y="2560320"/>
            <a:ext cx="2104217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05624" y="2628900"/>
            <a:ext cx="201277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Warning / critical days of cover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64122" y="2560320"/>
            <a:ext cx="138687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09842" y="2628900"/>
            <a:ext cx="129543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Upload / CSV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68680" y="2862072"/>
            <a:ext cx="1291224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14400" y="2930652"/>
            <a:ext cx="1199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Port events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59904" y="2862072"/>
            <a:ext cx="2104217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05624" y="2930652"/>
            <a:ext cx="201277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At port / discharging states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64122" y="2862072"/>
            <a:ext cx="1386870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309842" y="2930652"/>
            <a:ext cx="129543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Optional manual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68680" y="3163824"/>
            <a:ext cx="129122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3232404"/>
            <a:ext cx="1199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Inland movements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159904" y="3163824"/>
            <a:ext cx="2104217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205624" y="3232404"/>
            <a:ext cx="2012777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Truck / rail progress to plant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264122" y="3163824"/>
            <a:ext cx="138687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09842" y="3232404"/>
            <a:ext cx="129543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Optional manual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00895" y="963419"/>
            <a:ext cx="5394960" cy="5440680"/>
          </a:xfrm>
          <a:prstGeom prst="roundRect">
            <a:avLst>
              <a:gd name="adj" fmla="val 203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27648" y="12344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Automation roadmap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345936" y="1691640"/>
            <a:ext cx="822960" cy="237744"/>
          </a:xfrm>
          <a:prstGeom prst="rect">
            <a:avLst/>
          </a:prstGeom>
          <a:solidFill>
            <a:srgbClr val="1E4B82"/>
          </a:solidFill>
          <a:ln>
            <a:solidFill>
              <a:srgbClr val="1E4B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EAFF"/>
                </a:solidFill>
              </a:rPr>
              <a:t>Phase A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7315200" y="1682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Manual uploads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315200" y="191109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D7E3F1"/>
                </a:solidFill>
              </a:rPr>
              <a:t>Fastest path to first insight during pilot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6748272" y="1956816"/>
            <a:ext cx="0" cy="640080"/>
          </a:xfrm>
          <a:prstGeom prst="line">
            <a:avLst/>
          </a:prstGeom>
          <a:noFill/>
          <a:ln w="12700">
            <a:solidFill>
              <a:srgbClr val="36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345936" y="2633472"/>
            <a:ext cx="822960" cy="237744"/>
          </a:xfrm>
          <a:prstGeom prst="rect">
            <a:avLst/>
          </a:prstGeom>
          <a:solidFill>
            <a:srgbClr val="1E4B82"/>
          </a:solidFill>
          <a:ln>
            <a:solidFill>
              <a:srgbClr val="1E4B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EAFF"/>
                </a:solidFill>
              </a:rPr>
              <a:t>Phase B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7315200" y="262432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Shared mailbox / folder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315200" y="28529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D7E3F1"/>
                </a:solidFill>
              </a:rPr>
              <a:t>Reduce friction without ERP projects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6748272" y="2898648"/>
            <a:ext cx="0" cy="640080"/>
          </a:xfrm>
          <a:prstGeom prst="line">
            <a:avLst/>
          </a:prstGeom>
          <a:noFill/>
          <a:ln w="12700">
            <a:solidFill>
              <a:srgbClr val="36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45936" y="3575304"/>
            <a:ext cx="822960" cy="237744"/>
          </a:xfrm>
          <a:prstGeom prst="rect">
            <a:avLst/>
          </a:prstGeom>
          <a:solidFill>
            <a:srgbClr val="1E4B82"/>
          </a:solidFill>
          <a:ln>
            <a:solidFill>
              <a:srgbClr val="1E4B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EAFF"/>
                </a:solidFill>
              </a:rPr>
              <a:t>Phase C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7315200" y="356616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Vessel enrichment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315200" y="37947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D7E3F1"/>
                </a:solidFill>
              </a:rPr>
              <a:t>Optional ETA lift for ocean leg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6748272" y="3840480"/>
            <a:ext cx="0" cy="640080"/>
          </a:xfrm>
          <a:prstGeom prst="line">
            <a:avLst/>
          </a:prstGeom>
          <a:noFill/>
          <a:ln w="12700">
            <a:solidFill>
              <a:srgbClr val="3650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45936" y="4517136"/>
            <a:ext cx="822960" cy="237744"/>
          </a:xfrm>
          <a:prstGeom prst="rect">
            <a:avLst/>
          </a:prstGeom>
          <a:solidFill>
            <a:srgbClr val="1E4B82"/>
          </a:solidFill>
          <a:ln>
            <a:solidFill>
              <a:srgbClr val="1E4B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EAFF"/>
                </a:solidFill>
              </a:rPr>
              <a:t>Phase D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7315200" y="450799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ERP / TMS connectors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7315200" y="473659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40" dirty="0">
                <a:solidFill>
                  <a:srgbClr val="D7E3F1"/>
                </a:solidFill>
              </a:rPr>
              <a:t>Scale once trust and ROI are proven</a:t>
            </a:r>
            <a:endParaRPr lang="en-US" sz="940" dirty="0"/>
          </a:p>
        </p:txBody>
      </p:sp>
      <p:sp>
        <p:nvSpPr>
          <p:cNvPr id="60" name="Text 58"/>
          <p:cNvSpPr/>
          <p:nvPr/>
        </p:nvSpPr>
        <p:spPr>
          <a:xfrm>
            <a:off x="6327648" y="546811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design principle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327648" y="570585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</a:rPr>
              <a:t>Never ask users to maintain data they already maintain somewhere else. Absorb the signal; only ask for exception-level input.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0080" y="644652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Steel-specific inbound control tower for raw-material continuity risk</a:t>
            </a:r>
            <a:endParaRPr lang="en-US" sz="85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Dashboard view 1 — Command center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This is the first screen an operations leader or sponsor should understand in under one minute.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987552"/>
            <a:ext cx="10808208" cy="5440680"/>
          </a:xfrm>
          <a:prstGeom prst="roundRect">
            <a:avLst>
              <a:gd name="adj" fmla="val 2017"/>
            </a:avLst>
          </a:prstGeom>
          <a:solidFill>
            <a:srgbClr val="0D1728"/>
          </a:solidFill>
          <a:ln w="12700">
            <a:solidFill>
              <a:srgbClr val="1A2A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987552"/>
            <a:ext cx="10808208" cy="493776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143000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Inbound Control Tower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47504" y="1088136"/>
            <a:ext cx="1005840" cy="219456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DEEFF"/>
                </a:solidFill>
              </a:rPr>
              <a:t>Demo tenant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10826496" y="1088136"/>
            <a:ext cx="475488" cy="219456"/>
          </a:xfrm>
          <a:prstGeom prst="rect">
            <a:avLst/>
          </a:prstGeom>
          <a:solidFill>
            <a:srgbClr val="143B2F"/>
          </a:solidFill>
          <a:ln>
            <a:solidFill>
              <a:srgbClr val="143B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FF6EA"/>
                </a:solidFill>
              </a:rPr>
              <a:t>Live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13232" y="1481328"/>
            <a:ext cx="960120" cy="4946904"/>
          </a:xfrm>
          <a:prstGeom prst="rect">
            <a:avLst/>
          </a:prstGeom>
          <a:solidFill>
            <a:srgbClr val="101B2E"/>
          </a:solidFill>
          <a:ln w="12700">
            <a:solidFill>
              <a:srgbClr val="101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749808" cy="384048"/>
          </a:xfrm>
          <a:prstGeom prst="roundRect">
            <a:avLst>
              <a:gd name="adj" fmla="val 28571"/>
            </a:avLst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901952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EEFF"/>
                </a:solidFill>
              </a:rPr>
              <a:t>Overview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2487168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9"/>
                </a:solidFill>
              </a:rPr>
              <a:t>Shipments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3072384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9"/>
                </a:solidFill>
              </a:rPr>
              <a:t>Stock cover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" y="3657600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9"/>
                </a:solidFill>
              </a:rPr>
              <a:t>Exceptions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4242816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9"/>
                </a:solidFill>
              </a:rPr>
              <a:t>Inland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4828032"/>
            <a:ext cx="65836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9"/>
                </a:solidFill>
              </a:rPr>
              <a:t>Admin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74520" y="1719072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17263B"/>
          </a:solidFill>
          <a:ln w="12700">
            <a:solidFill>
              <a:srgbClr val="24364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39112" y="1856232"/>
            <a:ext cx="1463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2D7"/>
                </a:solidFill>
              </a:rPr>
              <a:t>Plants tracked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39112" y="20482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114800" y="1719072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17263B"/>
          </a:solidFill>
          <a:ln w="12700">
            <a:solidFill>
              <a:srgbClr val="24364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79392" y="1856232"/>
            <a:ext cx="1463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2D7"/>
                </a:solidFill>
              </a:rPr>
              <a:t>Critical risks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79392" y="20482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355080" y="1719072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17263B"/>
          </a:solidFill>
          <a:ln w="12700">
            <a:solidFill>
              <a:srgbClr val="24364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19672" y="1856232"/>
            <a:ext cx="1463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2D7"/>
                </a:solidFill>
              </a:rPr>
              <a:t>Warnings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9672" y="20482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595360" y="1719072"/>
            <a:ext cx="1965960" cy="822960"/>
          </a:xfrm>
          <a:prstGeom prst="roundRect">
            <a:avLst>
              <a:gd name="adj" fmla="val 13333"/>
            </a:avLst>
          </a:prstGeom>
          <a:solidFill>
            <a:srgbClr val="17263B"/>
          </a:solidFill>
          <a:ln w="12700">
            <a:solidFill>
              <a:srgbClr val="24364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759952" y="1856232"/>
            <a:ext cx="1463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FC2D7"/>
                </a:solidFill>
              </a:rPr>
              <a:t>Open exceptions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759952" y="20482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874520" y="2761488"/>
            <a:ext cx="5989320" cy="3246120"/>
          </a:xfrm>
          <a:prstGeom prst="roundRect">
            <a:avLst>
              <a:gd name="adj" fmla="val 3380"/>
            </a:avLst>
          </a:prstGeom>
          <a:solidFill>
            <a:srgbClr val="17263B"/>
          </a:solidFill>
          <a:ln w="12700">
            <a:solidFill>
              <a:srgbClr val="24364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057400" y="2944368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At-risk materials board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029968" y="3246120"/>
            <a:ext cx="5650992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029968" y="3246120"/>
            <a:ext cx="1073688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75688" y="3319272"/>
            <a:ext cx="982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Plant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03656" y="3246120"/>
            <a:ext cx="1073688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149376" y="3319272"/>
            <a:ext cx="9822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Material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77345" y="3246120"/>
            <a:ext cx="960669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23065" y="3319272"/>
            <a:ext cx="86922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Current stock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38014" y="3246120"/>
            <a:ext cx="734629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83734" y="3319272"/>
            <a:ext cx="64318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Inbound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72643" y="3246120"/>
            <a:ext cx="678119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18363" y="3319272"/>
            <a:ext cx="58667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Days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50762" y="3246120"/>
            <a:ext cx="1130198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96482" y="3319272"/>
            <a:ext cx="103875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Status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029968" y="3575304"/>
            <a:ext cx="10736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075688" y="3643884"/>
            <a:ext cx="982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Dolvi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103656" y="3575304"/>
            <a:ext cx="10736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149376" y="3643884"/>
            <a:ext cx="982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Coking coal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177345" y="3575304"/>
            <a:ext cx="960669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23065" y="3643884"/>
            <a:ext cx="86922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120k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138014" y="3575304"/>
            <a:ext cx="734629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183734" y="3643884"/>
            <a:ext cx="64318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75k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872643" y="3575304"/>
            <a:ext cx="678119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918363" y="3643884"/>
            <a:ext cx="58667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4.3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550762" y="3575304"/>
            <a:ext cx="113019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05626" y="3630168"/>
            <a:ext cx="1020470" cy="182880"/>
          </a:xfrm>
          <a:prstGeom prst="rect">
            <a:avLst/>
          </a:prstGeom>
          <a:solidFill>
            <a:srgbClr val="5C1F1F"/>
          </a:solidFill>
          <a:ln>
            <a:solidFill>
              <a:srgbClr val="5C1F1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D8D8"/>
                </a:solidFill>
              </a:rPr>
              <a:t>Critical</a:t>
            </a:r>
            <a:endParaRPr lang="en-US" sz="920" dirty="0"/>
          </a:p>
        </p:txBody>
      </p:sp>
      <p:sp>
        <p:nvSpPr>
          <p:cNvPr id="56" name="Shape 54"/>
          <p:cNvSpPr/>
          <p:nvPr/>
        </p:nvSpPr>
        <p:spPr>
          <a:xfrm>
            <a:off x="2029968" y="3877056"/>
            <a:ext cx="1073688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075688" y="3945636"/>
            <a:ext cx="982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Hazira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103656" y="3877056"/>
            <a:ext cx="1073688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149376" y="3945636"/>
            <a:ext cx="982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Limestone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177345" y="3877056"/>
            <a:ext cx="960669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223065" y="3945636"/>
            <a:ext cx="86922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90k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138014" y="3877056"/>
            <a:ext cx="734629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183734" y="3945636"/>
            <a:ext cx="64318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25k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872643" y="3877056"/>
            <a:ext cx="678119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918363" y="3945636"/>
            <a:ext cx="58667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7.8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550762" y="3877056"/>
            <a:ext cx="1130198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605626" y="3931920"/>
            <a:ext cx="1020470" cy="182880"/>
          </a:xfrm>
          <a:prstGeom prst="rect">
            <a:avLst/>
          </a:prstGeom>
          <a:solidFill>
            <a:srgbClr val="5D420A"/>
          </a:solidFill>
          <a:ln>
            <a:solidFill>
              <a:srgbClr val="5D420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2A8"/>
                </a:solidFill>
              </a:rPr>
              <a:t>Warning</a:t>
            </a:r>
            <a:endParaRPr lang="en-US" sz="920" dirty="0"/>
          </a:p>
        </p:txBody>
      </p:sp>
      <p:sp>
        <p:nvSpPr>
          <p:cNvPr id="68" name="Shape 66"/>
          <p:cNvSpPr/>
          <p:nvPr/>
        </p:nvSpPr>
        <p:spPr>
          <a:xfrm>
            <a:off x="2029968" y="4178808"/>
            <a:ext cx="10736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075688" y="4247388"/>
            <a:ext cx="982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Jamshedpur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103656" y="4178808"/>
            <a:ext cx="10736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149376" y="4247388"/>
            <a:ext cx="982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PCI coal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177345" y="4178808"/>
            <a:ext cx="960669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223065" y="4247388"/>
            <a:ext cx="86922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110k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138014" y="4178808"/>
            <a:ext cx="734629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183734" y="4247388"/>
            <a:ext cx="64318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40k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872643" y="4178808"/>
            <a:ext cx="678119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918363" y="4247388"/>
            <a:ext cx="58667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9.5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550762" y="4178808"/>
            <a:ext cx="113019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605626" y="4233672"/>
            <a:ext cx="1020470" cy="182880"/>
          </a:xfrm>
          <a:prstGeom prst="rect">
            <a:avLst/>
          </a:prstGeom>
          <a:solidFill>
            <a:srgbClr val="123B2A"/>
          </a:solidFill>
          <a:ln>
            <a:solidFill>
              <a:srgbClr val="123B2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FBE8"/>
                </a:solidFill>
              </a:rPr>
              <a:t>Safe</a:t>
            </a:r>
            <a:endParaRPr lang="en-US" sz="920" dirty="0"/>
          </a:p>
        </p:txBody>
      </p:sp>
      <p:sp>
        <p:nvSpPr>
          <p:cNvPr id="80" name="Shape 78"/>
          <p:cNvSpPr/>
          <p:nvPr/>
        </p:nvSpPr>
        <p:spPr>
          <a:xfrm>
            <a:off x="2029968" y="4480560"/>
            <a:ext cx="1073688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075688" y="4549140"/>
            <a:ext cx="982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Bokaro region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103656" y="4480560"/>
            <a:ext cx="1073688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149376" y="4549140"/>
            <a:ext cx="982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Scrap mix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177345" y="4480560"/>
            <a:ext cx="960669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223065" y="4549140"/>
            <a:ext cx="86922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--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138014" y="4480560"/>
            <a:ext cx="734629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183734" y="4549140"/>
            <a:ext cx="64318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15k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872643" y="4480560"/>
            <a:ext cx="678119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5918363" y="4549140"/>
            <a:ext cx="58667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--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550762" y="4480560"/>
            <a:ext cx="1130198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605626" y="4535424"/>
            <a:ext cx="1020470" cy="182880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E5E7EB"/>
                </a:solidFill>
              </a:rPr>
              <a:t>Insufficient</a:t>
            </a:r>
            <a:endParaRPr lang="en-US" sz="920" dirty="0"/>
          </a:p>
        </p:txBody>
      </p:sp>
      <p:sp>
        <p:nvSpPr>
          <p:cNvPr id="92" name="Shape 90"/>
          <p:cNvSpPr/>
          <p:nvPr/>
        </p:nvSpPr>
        <p:spPr>
          <a:xfrm>
            <a:off x="8138160" y="2761488"/>
            <a:ext cx="3154680" cy="1481328"/>
          </a:xfrm>
          <a:prstGeom prst="roundRect">
            <a:avLst>
              <a:gd name="adj" fmla="val 7407"/>
            </a:avLst>
          </a:prstGeom>
          <a:solidFill>
            <a:srgbClr val="17263B"/>
          </a:solidFill>
          <a:ln w="12700">
            <a:solidFill>
              <a:srgbClr val="24364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8357616" y="2944368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active exception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8357616" y="32278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3F0"/>
                </a:solidFill>
              </a:rPr>
              <a:t>Dolvi coking coal cover likely to breach in 4.3 days after ETA moved by +2.1 days.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8357616" y="3822192"/>
            <a:ext cx="868680" cy="201168"/>
          </a:xfrm>
          <a:prstGeom prst="rect">
            <a:avLst/>
          </a:prstGeom>
          <a:solidFill>
            <a:srgbClr val="5D420A"/>
          </a:solidFill>
          <a:ln>
            <a:solidFill>
              <a:srgbClr val="5D420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2A8"/>
                </a:solidFill>
              </a:rPr>
              <a:t>Owner: unassigned</a:t>
            </a:r>
            <a:endParaRPr lang="en-US" sz="920" dirty="0"/>
          </a:p>
        </p:txBody>
      </p:sp>
      <p:sp>
        <p:nvSpPr>
          <p:cNvPr id="96" name="Text 94"/>
          <p:cNvSpPr/>
          <p:nvPr/>
        </p:nvSpPr>
        <p:spPr>
          <a:xfrm>
            <a:off x="9308592" y="3822192"/>
            <a:ext cx="658368" cy="201168"/>
          </a:xfrm>
          <a:prstGeom prst="rect">
            <a:avLst/>
          </a:prstGeom>
          <a:solidFill>
            <a:srgbClr val="5C1F1F"/>
          </a:solidFill>
          <a:ln>
            <a:solidFill>
              <a:srgbClr val="5C1F1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D8D8"/>
                </a:solidFill>
              </a:rPr>
              <a:t>High</a:t>
            </a:r>
            <a:endParaRPr lang="en-US" sz="920" dirty="0"/>
          </a:p>
        </p:txBody>
      </p:sp>
      <p:sp>
        <p:nvSpPr>
          <p:cNvPr id="97" name="Shape 95"/>
          <p:cNvSpPr/>
          <p:nvPr/>
        </p:nvSpPr>
        <p:spPr>
          <a:xfrm>
            <a:off x="8138160" y="4416552"/>
            <a:ext cx="3154680" cy="1591056"/>
          </a:xfrm>
          <a:prstGeom prst="roundRect">
            <a:avLst>
              <a:gd name="adj" fmla="val 6897"/>
            </a:avLst>
          </a:prstGeom>
          <a:solidFill>
            <a:srgbClr val="17263B"/>
          </a:solidFill>
          <a:ln w="12700">
            <a:solidFill>
              <a:srgbClr val="24364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8357616" y="4599432"/>
            <a:ext cx="1463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freshness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357616" y="486460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6E3F0"/>
                </a:solidFill>
              </a:rPr>
              <a:t>Shipment tracker: 08:12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D6E3F0"/>
                </a:solidFill>
              </a:rPr>
              <a:t>Stock snapshot: 07:45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D6E3F0"/>
                </a:solidFill>
              </a:rPr>
              <a:t>Thresholds: 2 days ago</a:t>
            </a:r>
            <a:endParaRPr lang="en-US" sz="960" dirty="0"/>
          </a:p>
          <a:p>
            <a:pPr marL="0" indent="0">
              <a:buNone/>
            </a:pPr>
            <a:r>
              <a:rPr lang="en-US" sz="960" dirty="0">
                <a:solidFill>
                  <a:srgbClr val="D6E3F0"/>
                </a:solidFill>
              </a:rPr>
              <a:t>Confidence: medium</a:t>
            </a:r>
            <a:endParaRPr lang="en-US" sz="960" dirty="0"/>
          </a:p>
        </p:txBody>
      </p:sp>
      <p:sp>
        <p:nvSpPr>
          <p:cNvPr id="100" name="Text 98"/>
          <p:cNvSpPr/>
          <p:nvPr/>
        </p:nvSpPr>
        <p:spPr>
          <a:xfrm>
            <a:off x="640080" y="644652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Illustrative product screen — command center view</a:t>
            </a:r>
            <a:endParaRPr lang="en-US" sz="850" dirty="0"/>
          </a:p>
        </p:txBody>
      </p:sp>
      <p:sp>
        <p:nvSpPr>
          <p:cNvPr id="10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Dashboard view 2 — Shipments and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One movement change should translate into one action record.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3232" y="1024128"/>
            <a:ext cx="5504688" cy="5349240"/>
          </a:xfrm>
          <a:prstGeom prst="roundRect">
            <a:avLst>
              <a:gd name="adj" fmla="val 2051"/>
            </a:avLst>
          </a:prstGeom>
          <a:solidFill>
            <a:srgbClr val="0D1728"/>
          </a:solidFill>
          <a:ln w="12700">
            <a:solidFill>
              <a:srgbClr val="1A2A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024128"/>
            <a:ext cx="5504688" cy="457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170432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Shipment visibility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32688" y="1664208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" y="1664208"/>
            <a:ext cx="1268730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78408" y="1737360"/>
            <a:ext cx="11772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Shipment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01418" y="1664208"/>
            <a:ext cx="913486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47138" y="1737360"/>
            <a:ext cx="82204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Plant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14904" y="1664208"/>
            <a:ext cx="1014984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60624" y="1737360"/>
            <a:ext cx="923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State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29888" y="1664208"/>
            <a:ext cx="862736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75608" y="1737360"/>
            <a:ext cx="7712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ETA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92624" y="1664208"/>
            <a:ext cx="1014984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38344" y="1737360"/>
            <a:ext cx="9235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Band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32688" y="1993392"/>
            <a:ext cx="126873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78408" y="2061972"/>
            <a:ext cx="11772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SHP-001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01418" y="1993392"/>
            <a:ext cx="913486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47138" y="2061972"/>
            <a:ext cx="82204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Dolvi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14904" y="1993392"/>
            <a:ext cx="101498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169768" y="2048256"/>
            <a:ext cx="905256" cy="182880"/>
          </a:xfrm>
          <a:prstGeom prst="rect">
            <a:avLst/>
          </a:prstGeom>
          <a:solidFill>
            <a:srgbClr val="103B6E"/>
          </a:solidFill>
          <a:ln>
            <a:solidFill>
              <a:srgbClr val="103B6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BECFF"/>
                </a:solidFill>
              </a:rPr>
              <a:t>On water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129888" y="1993392"/>
            <a:ext cx="862736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75608" y="2061972"/>
            <a:ext cx="77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23 Apr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92624" y="1993392"/>
            <a:ext cx="101498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38344" y="2061972"/>
            <a:ext cx="9235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Low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32688" y="2295144"/>
            <a:ext cx="1268730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78408" y="2363724"/>
            <a:ext cx="11772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SHP-004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01418" y="2295144"/>
            <a:ext cx="913486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47138" y="2363724"/>
            <a:ext cx="82204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Hazira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14904" y="2295144"/>
            <a:ext cx="1014984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69768" y="2350008"/>
            <a:ext cx="905256" cy="182880"/>
          </a:xfrm>
          <a:prstGeom prst="rect">
            <a:avLst/>
          </a:prstGeom>
          <a:solidFill>
            <a:srgbClr val="5D420A"/>
          </a:solidFill>
          <a:ln>
            <a:solidFill>
              <a:srgbClr val="5D420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2A8"/>
                </a:solidFill>
              </a:rPr>
              <a:t>At port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129888" y="2295144"/>
            <a:ext cx="862736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75608" y="2363724"/>
            <a:ext cx="77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21 Apr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92624" y="2295144"/>
            <a:ext cx="1014984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38344" y="2363724"/>
            <a:ext cx="9235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Med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32688" y="2596896"/>
            <a:ext cx="126873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78408" y="2665476"/>
            <a:ext cx="117729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SHP-007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01418" y="2596896"/>
            <a:ext cx="913486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247138" y="2665476"/>
            <a:ext cx="82204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Jamshedpur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14904" y="2596896"/>
            <a:ext cx="101498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169768" y="2651760"/>
            <a:ext cx="905256" cy="182880"/>
          </a:xfrm>
          <a:prstGeom prst="rect">
            <a:avLst/>
          </a:prstGeom>
          <a:solidFill>
            <a:srgbClr val="123B2A"/>
          </a:solidFill>
          <a:ln>
            <a:solidFill>
              <a:srgbClr val="123B2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FBE8"/>
                </a:solidFill>
              </a:rPr>
              <a:t>In transit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4129888" y="2596896"/>
            <a:ext cx="862736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175608" y="2665476"/>
            <a:ext cx="77129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20 Apr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992624" y="2596896"/>
            <a:ext cx="1014984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38344" y="2665476"/>
            <a:ext cx="9235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High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32688" y="2999232"/>
            <a:ext cx="1920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Shipment detail — SHP-001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32688" y="3255264"/>
            <a:ext cx="5074920" cy="2697480"/>
          </a:xfrm>
          <a:prstGeom prst="roundRect">
            <a:avLst>
              <a:gd name="adj" fmla="val 4068"/>
            </a:avLst>
          </a:prstGeom>
          <a:solidFill>
            <a:srgbClr val="16283F"/>
          </a:solidFill>
          <a:ln w="12700">
            <a:solidFill>
              <a:srgbClr val="24364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88720" y="4014216"/>
            <a:ext cx="914400" cy="0"/>
          </a:xfrm>
          <a:prstGeom prst="line">
            <a:avLst/>
          </a:prstGeom>
          <a:noFill/>
          <a:ln w="12700">
            <a:solidFill>
              <a:srgbClr val="4B6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133856" y="3913632"/>
            <a:ext cx="109728" cy="109728"/>
          </a:xfrm>
          <a:prstGeom prst="ellipse">
            <a:avLst/>
          </a:prstGeom>
          <a:solidFill>
            <a:srgbClr val="78A9FF"/>
          </a:solidFill>
          <a:ln w="12700">
            <a:solidFill>
              <a:srgbClr val="78A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24128" y="4078224"/>
            <a:ext cx="3840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C8D6E5"/>
                </a:solidFill>
              </a:rPr>
              <a:t>Loaded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2176272" y="4014216"/>
            <a:ext cx="914400" cy="0"/>
          </a:xfrm>
          <a:prstGeom prst="line">
            <a:avLst/>
          </a:prstGeom>
          <a:noFill/>
          <a:ln w="12700">
            <a:solidFill>
              <a:srgbClr val="4B6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121408" y="3913632"/>
            <a:ext cx="109728" cy="109728"/>
          </a:xfrm>
          <a:prstGeom prst="ellipse">
            <a:avLst/>
          </a:prstGeom>
          <a:solidFill>
            <a:srgbClr val="78A9FF"/>
          </a:solidFill>
          <a:ln w="12700">
            <a:solidFill>
              <a:srgbClr val="78A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011680" y="4078224"/>
            <a:ext cx="3840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C8D6E5"/>
                </a:solidFill>
              </a:rPr>
              <a:t>On water</a:t>
            </a:r>
            <a:endParaRPr lang="en-US" sz="840" dirty="0"/>
          </a:p>
        </p:txBody>
      </p:sp>
      <p:sp>
        <p:nvSpPr>
          <p:cNvPr id="56" name="Shape 54"/>
          <p:cNvSpPr/>
          <p:nvPr/>
        </p:nvSpPr>
        <p:spPr>
          <a:xfrm>
            <a:off x="3163824" y="4014216"/>
            <a:ext cx="914400" cy="0"/>
          </a:xfrm>
          <a:prstGeom prst="line">
            <a:avLst/>
          </a:prstGeom>
          <a:noFill/>
          <a:ln w="12700">
            <a:solidFill>
              <a:srgbClr val="4B6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108960" y="3913632"/>
            <a:ext cx="109728" cy="109728"/>
          </a:xfrm>
          <a:prstGeom prst="ellipse">
            <a:avLst/>
          </a:prstGeom>
          <a:solidFill>
            <a:srgbClr val="324B68"/>
          </a:solidFill>
          <a:ln w="12700">
            <a:solidFill>
              <a:srgbClr val="324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999232" y="4078224"/>
            <a:ext cx="3840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C8D6E5"/>
                </a:solidFill>
              </a:rPr>
              <a:t>At port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4151376" y="4014216"/>
            <a:ext cx="914400" cy="0"/>
          </a:xfrm>
          <a:prstGeom prst="line">
            <a:avLst/>
          </a:prstGeom>
          <a:noFill/>
          <a:ln w="12700">
            <a:solidFill>
              <a:srgbClr val="4B6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096512" y="3913632"/>
            <a:ext cx="109728" cy="109728"/>
          </a:xfrm>
          <a:prstGeom prst="ellipse">
            <a:avLst/>
          </a:prstGeom>
          <a:solidFill>
            <a:srgbClr val="324B68"/>
          </a:solidFill>
          <a:ln w="12700">
            <a:solidFill>
              <a:srgbClr val="324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986784" y="4078224"/>
            <a:ext cx="3840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C8D6E5"/>
                </a:solidFill>
              </a:rPr>
              <a:t>Inland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5138928" y="4014216"/>
            <a:ext cx="0" cy="0"/>
          </a:xfrm>
          <a:prstGeom prst="line">
            <a:avLst/>
          </a:prstGeom>
          <a:noFill/>
          <a:ln w="12700">
            <a:solidFill>
              <a:srgbClr val="4B63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084064" y="3913632"/>
            <a:ext cx="109728" cy="109728"/>
          </a:xfrm>
          <a:prstGeom prst="ellipse">
            <a:avLst/>
          </a:prstGeom>
          <a:solidFill>
            <a:srgbClr val="324B68"/>
          </a:solidFill>
          <a:ln w="12700">
            <a:solidFill>
              <a:srgbClr val="324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974336" y="4078224"/>
            <a:ext cx="38404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" dirty="0">
                <a:solidFill>
                  <a:srgbClr val="C8D6E5"/>
                </a:solidFill>
              </a:rPr>
              <a:t>Plant</a:t>
            </a:r>
            <a:endParaRPr lang="en-US" sz="840" dirty="0"/>
          </a:p>
        </p:txBody>
      </p:sp>
      <p:sp>
        <p:nvSpPr>
          <p:cNvPr id="65" name="Text 63"/>
          <p:cNvSpPr/>
          <p:nvPr/>
        </p:nvSpPr>
        <p:spPr>
          <a:xfrm>
            <a:off x="1097280" y="4407408"/>
            <a:ext cx="20116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EAF4"/>
                </a:solidFill>
              </a:rPr>
              <a:t>Planned ETA: 20 Apr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1EAF4"/>
                </a:solidFill>
              </a:rPr>
              <a:t>Current ETA: 23 Apr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1EAF4"/>
                </a:solidFill>
              </a:rPr>
              <a:t>Confidence: medium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1EAF4"/>
                </a:solidFill>
              </a:rPr>
              <a:t>Latest source: shipment tracker upload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566160" y="440740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1EAF4"/>
                </a:solidFill>
              </a:rPr>
              <a:t>Contribution band: low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1EAF4"/>
                </a:solidFill>
              </a:rPr>
              <a:t>Not counted as fully available to plant yet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446520" y="1024128"/>
            <a:ext cx="5029200" cy="5349240"/>
          </a:xfrm>
          <a:prstGeom prst="roundRect">
            <a:avLst>
              <a:gd name="adj" fmla="val 2182"/>
            </a:avLst>
          </a:prstGeom>
          <a:solidFill>
            <a:srgbClr val="0D1728"/>
          </a:solidFill>
          <a:ln w="12700">
            <a:solidFill>
              <a:srgbClr val="1A2A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446520" y="1024128"/>
            <a:ext cx="5029200" cy="4572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656832" y="1170432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Exception room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6675120" y="1691640"/>
            <a:ext cx="4572000" cy="1078992"/>
          </a:xfrm>
          <a:prstGeom prst="roundRect">
            <a:avLst>
              <a:gd name="adj" fmla="val 10169"/>
            </a:avLst>
          </a:prstGeom>
          <a:solidFill>
            <a:srgbClr val="16283F"/>
          </a:solidFill>
          <a:ln w="12700">
            <a:solidFill>
              <a:srgbClr val="24364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876288" y="1865376"/>
            <a:ext cx="2514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Critical | Stock-cover breach risk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876288" y="205740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Dolvi / Coking coal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876288" y="235915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6E3F0"/>
                </a:solidFill>
              </a:rPr>
              <a:t>Trigger source: stock-cover engine + ETA delay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D6E3F0"/>
                </a:solidFill>
              </a:rPr>
              <a:t>Recommended next step: review alternate inbound or approve corrective logistics action</a:t>
            </a:r>
            <a:endParaRPr lang="en-US" sz="920" dirty="0"/>
          </a:p>
        </p:txBody>
      </p:sp>
      <p:sp>
        <p:nvSpPr>
          <p:cNvPr id="74" name="Text 72"/>
          <p:cNvSpPr/>
          <p:nvPr/>
        </p:nvSpPr>
        <p:spPr>
          <a:xfrm>
            <a:off x="9912096" y="1865376"/>
            <a:ext cx="950976" cy="201168"/>
          </a:xfrm>
          <a:prstGeom prst="rect">
            <a:avLst/>
          </a:prstGeom>
          <a:solidFill>
            <a:srgbClr val="5D420A"/>
          </a:solidFill>
          <a:ln>
            <a:solidFill>
              <a:srgbClr val="5D420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2A8"/>
                </a:solidFill>
              </a:rPr>
              <a:t>Unassigned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10917936" y="1865376"/>
            <a:ext cx="201168" cy="201168"/>
          </a:xfrm>
          <a:prstGeom prst="rect">
            <a:avLst/>
          </a:prstGeom>
          <a:solidFill>
            <a:srgbClr val="5C1F1F"/>
          </a:solidFill>
          <a:ln>
            <a:solidFill>
              <a:srgbClr val="5C1F1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D8D8"/>
                </a:solidFill>
              </a:rPr>
              <a:t>!</a:t>
            </a:r>
            <a:endParaRPr lang="en-US" sz="920" dirty="0"/>
          </a:p>
        </p:txBody>
      </p:sp>
      <p:sp>
        <p:nvSpPr>
          <p:cNvPr id="76" name="Shape 74"/>
          <p:cNvSpPr/>
          <p:nvPr/>
        </p:nvSpPr>
        <p:spPr>
          <a:xfrm>
            <a:off x="6675120" y="2999232"/>
            <a:ext cx="45720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6675120" y="2999232"/>
            <a:ext cx="731520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720840" y="307238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Time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406640" y="2999232"/>
            <a:ext cx="822960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7452360" y="307238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Actor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229600" y="2999232"/>
            <a:ext cx="3017520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275320" y="3072384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Update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675120" y="3328416"/>
            <a:ext cx="731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720840" y="3396996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08:14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406640" y="332841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452360" y="3396996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System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229600" y="3328416"/>
            <a:ext cx="3017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275320" y="3396996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Exception opened after cover fell below threshold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675120" y="3630168"/>
            <a:ext cx="731520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720840" y="369874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08:20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406640" y="3630168"/>
            <a:ext cx="822960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452360" y="3698748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Planner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8229600" y="3630168"/>
            <a:ext cx="3017520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8275320" y="3698748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Needs review against substitute blend options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675120" y="3931920"/>
            <a:ext cx="731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6720840" y="4000500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08:31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7406640" y="3931920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452360" y="4000500"/>
            <a:ext cx="731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Logistics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229600" y="3931920"/>
            <a:ext cx="30175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8275320" y="4000500"/>
            <a:ext cx="2926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Port queue issue; ETA shifted +2.1 days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6876288" y="4709160"/>
            <a:ext cx="1188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 controls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6876288" y="4956048"/>
            <a:ext cx="1051560" cy="219456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DEEFF"/>
                </a:solidFill>
              </a:rPr>
              <a:t>Assign owner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8028432" y="4956048"/>
            <a:ext cx="896112" cy="219456"/>
          </a:xfrm>
          <a:prstGeom prst="rect">
            <a:avLst/>
          </a:prstGeom>
          <a:solidFill>
            <a:srgbClr val="143B2F"/>
          </a:solidFill>
          <a:ln>
            <a:solidFill>
              <a:srgbClr val="143B2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FF6EA"/>
                </a:solidFill>
              </a:rPr>
              <a:t>In progress</a:t>
            </a:r>
            <a:endParaRPr lang="en-US" sz="920" dirty="0"/>
          </a:p>
        </p:txBody>
      </p:sp>
      <p:sp>
        <p:nvSpPr>
          <p:cNvPr id="104" name="Text 102"/>
          <p:cNvSpPr/>
          <p:nvPr/>
        </p:nvSpPr>
        <p:spPr>
          <a:xfrm>
            <a:off x="9025128" y="4956048"/>
            <a:ext cx="841248" cy="219456"/>
          </a:xfrm>
          <a:prstGeom prst="rect">
            <a:avLst/>
          </a:prstGeom>
          <a:solidFill>
            <a:srgbClr val="4A2A11"/>
          </a:solidFill>
          <a:ln>
            <a:solidFill>
              <a:srgbClr val="4A2A1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E8D0"/>
                </a:solidFill>
              </a:rPr>
              <a:t>Add note</a:t>
            </a:r>
            <a:endParaRPr lang="en-US" sz="920" dirty="0"/>
          </a:p>
        </p:txBody>
      </p:sp>
      <p:sp>
        <p:nvSpPr>
          <p:cNvPr id="105" name="Text 103"/>
          <p:cNvSpPr/>
          <p:nvPr/>
        </p:nvSpPr>
        <p:spPr>
          <a:xfrm>
            <a:off x="9948672" y="4956048"/>
            <a:ext cx="841248" cy="219456"/>
          </a:xfrm>
          <a:prstGeom prst="rect">
            <a:avLst/>
          </a:prstGeom>
          <a:solidFill>
            <a:srgbClr val="374151"/>
          </a:solidFill>
          <a:ln>
            <a:solidFill>
              <a:srgbClr val="3741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E5E7EB"/>
                </a:solidFill>
              </a:rPr>
              <a:t>Resolve</a:t>
            </a:r>
            <a:endParaRPr lang="en-US" sz="920" dirty="0"/>
          </a:p>
        </p:txBody>
      </p:sp>
      <p:sp>
        <p:nvSpPr>
          <p:cNvPr id="106" name="Text 104"/>
          <p:cNvSpPr/>
          <p:nvPr/>
        </p:nvSpPr>
        <p:spPr>
          <a:xfrm>
            <a:off x="640080" y="644652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Illustrative product screens — shipment visibility and workflow views</a:t>
            </a:r>
            <a:endParaRPr lang="en-US" sz="850" dirty="0"/>
          </a:p>
        </p:txBody>
      </p:sp>
      <p:sp>
        <p:nvSpPr>
          <p:cNvPr id="10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Pilot design, implementation and value proof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The first sale should be a narrow pilot with measurable operating outcomes.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94944" y="1060704"/>
            <a:ext cx="736092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10–14 week pilot shape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868680" cy="237744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DEEFF"/>
                </a:solidFill>
              </a:rPr>
              <a:t>Weeks 1–2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1965960" y="173736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</a:rPr>
              <a:t>Scope one plant, one or two materials, map trackers and owners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1335024" y="1965960"/>
            <a:ext cx="0" cy="603504"/>
          </a:xfrm>
          <a:prstGeom prst="line">
            <a:avLst/>
          </a:prstGeom>
          <a:noFill/>
          <a:ln w="12700">
            <a:solidFill>
              <a:srgbClr val="D8E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587752"/>
            <a:ext cx="868680" cy="237744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DEEFF"/>
                </a:solidFill>
              </a:rPr>
              <a:t>Weeks 3–5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965960" y="260604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</a:rPr>
              <a:t>Upload ingestion, thresholds, initial stock-cover and shipment views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1335024" y="2834640"/>
            <a:ext cx="0" cy="603504"/>
          </a:xfrm>
          <a:prstGeom prst="line">
            <a:avLst/>
          </a:prstGeom>
          <a:noFill/>
          <a:ln w="12700">
            <a:solidFill>
              <a:srgbClr val="D8E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456432"/>
            <a:ext cx="868680" cy="237744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DEEFF"/>
                </a:solidFill>
              </a:rPr>
              <a:t>Weeks 6–8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1965960" y="347472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</a:rPr>
              <a:t>Shadow-mode operating reviews and signal calibration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1335024" y="3703320"/>
            <a:ext cx="0" cy="603504"/>
          </a:xfrm>
          <a:prstGeom prst="line">
            <a:avLst/>
          </a:prstGeom>
          <a:noFill/>
          <a:ln w="12700">
            <a:solidFill>
              <a:srgbClr val="D8E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325112"/>
            <a:ext cx="868680" cy="237744"/>
          </a:xfrm>
          <a:prstGeom prst="rect">
            <a:avLst/>
          </a:prstGeom>
          <a:solidFill>
            <a:srgbClr val="17375E"/>
          </a:solidFill>
          <a:ln>
            <a:solidFill>
              <a:srgbClr val="1737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DEEFF"/>
                </a:solidFill>
              </a:rPr>
              <a:t>Weeks 9–14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1965960" y="434340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F2937"/>
                </a:solidFill>
              </a:rPr>
              <a:t>Live usage, exception handling, quantified value readout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8211312" y="1060704"/>
            <a:ext cx="3273552" cy="2414016"/>
          </a:xfrm>
          <a:prstGeom prst="roundRect">
            <a:avLst>
              <a:gd name="adj" fmla="val 45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49056" y="1298448"/>
            <a:ext cx="1463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Pilot KPI pack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49056" y="1700784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7CC4FF"/>
          </a:solidFill>
          <a:ln w="12700">
            <a:solidFill>
              <a:srgbClr val="7CC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50224" y="1627632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7EFF8"/>
                </a:solidFill>
              </a:rPr>
              <a:t>Days-of-cover warning accuracy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449056" y="2084832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7CC4FF"/>
          </a:solidFill>
          <a:ln w="12700">
            <a:solidFill>
              <a:srgbClr val="7CC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50224" y="201168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7EFF8"/>
                </a:solidFill>
              </a:rPr>
              <a:t>Critical exceptions caught before impact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449056" y="2468880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7CC4FF"/>
          </a:solidFill>
          <a:ln w="12700">
            <a:solidFill>
              <a:srgbClr val="7CC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50224" y="239572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7EFF8"/>
                </a:solidFill>
              </a:rPr>
              <a:t>Manual follow-up reduction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8449056" y="2852928"/>
            <a:ext cx="100584" cy="100584"/>
          </a:xfrm>
          <a:prstGeom prst="roundRect">
            <a:avLst>
              <a:gd name="adj" fmla="val 27273"/>
            </a:avLst>
          </a:prstGeom>
          <a:solidFill>
            <a:srgbClr val="7CC4FF"/>
          </a:solidFill>
          <a:ln w="12700">
            <a:solidFill>
              <a:srgbClr val="7CC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50224" y="277977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7EFF8"/>
                </a:solidFill>
              </a:rPr>
              <a:t>Demurrage / expedite visibility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211312" y="3639312"/>
            <a:ext cx="3273552" cy="2679192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49056" y="3877056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What the buyer is buying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94192" y="4224528"/>
            <a:ext cx="283464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94192" y="4224528"/>
            <a:ext cx="1247242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39912" y="4297680"/>
            <a:ext cx="115580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Today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41434" y="4224528"/>
            <a:ext cx="1587398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687154" y="4297680"/>
            <a:ext cx="149595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After pilot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94192" y="4553712"/>
            <a:ext cx="124724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39912" y="4622292"/>
            <a:ext cx="115580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Fire drills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641434" y="4553712"/>
            <a:ext cx="158739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87154" y="4622292"/>
            <a:ext cx="14959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Earlier warning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394192" y="4855464"/>
            <a:ext cx="1247242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39912" y="4924044"/>
            <a:ext cx="115580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Parallel trackers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641434" y="4855464"/>
            <a:ext cx="1587398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87154" y="4924044"/>
            <a:ext cx="14959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Shared truth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394192" y="5157216"/>
            <a:ext cx="124724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439912" y="5225796"/>
            <a:ext cx="115580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Implicit ownership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641434" y="5157216"/>
            <a:ext cx="158739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687154" y="5225796"/>
            <a:ext cx="14959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Named owner + case trail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394192" y="5458968"/>
            <a:ext cx="1247242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439912" y="5527548"/>
            <a:ext cx="115580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Late escalation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641434" y="5458968"/>
            <a:ext cx="1587398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687154" y="5527548"/>
            <a:ext cx="149595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Structured action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0080" y="644652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Steel-specific inbound control tower for raw-material continuity risk</a:t>
            </a:r>
            <a:endParaRPr lang="en-US" sz="8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A43"/>
                </a:solidFill>
              </a:rPr>
              <a:t>First customer acquisition strategy — India specific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Land where route complexity, continuity risk and sponsor visibility are all high.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76656" y="1051560"/>
            <a:ext cx="3840480" cy="5212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28016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Account priority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6112" y="1664208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1E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664208"/>
            <a:ext cx="473659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1737360"/>
            <a:ext cx="38221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Wave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69771" y="1664208"/>
            <a:ext cx="1217981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5491" y="1737360"/>
            <a:ext cx="112654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2937"/>
                </a:solidFill>
              </a:rPr>
              <a:t>Target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87752" y="1664208"/>
            <a:ext cx="1691640" cy="329184"/>
          </a:xfrm>
          <a:prstGeom prst="rect">
            <a:avLst/>
          </a:prstGeom>
          <a:solidFill>
            <a:srgbClr val="F2F5F9"/>
          </a:solidFill>
          <a:ln w="1270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33472" y="1737360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</a:rPr>
              <a:t>Wedge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6112" y="1993392"/>
            <a:ext cx="473659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1832" y="2061972"/>
            <a:ext cx="38221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69771" y="1993392"/>
            <a:ext cx="1217981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15491" y="2061972"/>
            <a:ext cx="112654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JSW / Tata / AMNS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87752" y="1993392"/>
            <a:ext cx="1691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33472" y="2061972"/>
            <a:ext cx="1600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One plant corridor + stock-cover + exceptions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6112" y="2295144"/>
            <a:ext cx="473659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1832" y="2363724"/>
            <a:ext cx="38221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369771" y="2295144"/>
            <a:ext cx="1217981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15491" y="2363724"/>
            <a:ext cx="112654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East-belt integrated / regional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87752" y="2295144"/>
            <a:ext cx="1691640" cy="301752"/>
          </a:xfrm>
          <a:prstGeom prst="rect">
            <a:avLst/>
          </a:prstGeom>
          <a:solidFill>
            <a:srgbClr val="FBFCFE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33472" y="2363724"/>
            <a:ext cx="1600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Local pilot, faster founder-led motion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96112" y="2596896"/>
            <a:ext cx="473659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1832" y="2665476"/>
            <a:ext cx="382219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369771" y="2596896"/>
            <a:ext cx="1217981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15491" y="2665476"/>
            <a:ext cx="112654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</a:rPr>
              <a:t>Secondary steel groups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87752" y="2596896"/>
            <a:ext cx="1691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33472" y="2665476"/>
            <a:ext cx="1600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</a:rPr>
              <a:t>Lighter SKU after proof points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96112" y="3749040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Ranchi / Jharkhand advantage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" y="3986784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B7280"/>
                </a:solidFill>
              </a:rPr>
              <a:t>Use eastern-belt proximity to sell discovery depth, not small-company positioning: Jamshedpur / Bokaro / regional steel and mining ecosystems make operating pain tangible.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754880" y="1051560"/>
            <a:ext cx="6711696" cy="5212080"/>
          </a:xfrm>
          <a:prstGeom prst="roundRect">
            <a:avLst>
              <a:gd name="adj" fmla="val 21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92624" y="128016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to win the first meetings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010912" y="1783080"/>
            <a:ext cx="310896" cy="219456"/>
          </a:xfrm>
          <a:prstGeom prst="rect">
            <a:avLst/>
          </a:prstGeom>
          <a:solidFill>
            <a:srgbClr val="1E4B82"/>
          </a:solidFill>
          <a:ln>
            <a:solidFill>
              <a:srgbClr val="1E4B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EAFF"/>
                </a:solidFill>
              </a:rPr>
              <a:t>1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449824" y="1773936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E8EEF6"/>
                </a:solidFill>
              </a:rPr>
              <a:t>Lead with one disruption story, not a product demo.</a:t>
            </a:r>
            <a:endParaRPr lang="en-US" sz="1060" dirty="0"/>
          </a:p>
        </p:txBody>
      </p:sp>
      <p:sp>
        <p:nvSpPr>
          <p:cNvPr id="37" name="Text 35"/>
          <p:cNvSpPr/>
          <p:nvPr/>
        </p:nvSpPr>
        <p:spPr>
          <a:xfrm>
            <a:off x="5010912" y="2514600"/>
            <a:ext cx="310896" cy="219456"/>
          </a:xfrm>
          <a:prstGeom prst="rect">
            <a:avLst/>
          </a:prstGeom>
          <a:solidFill>
            <a:srgbClr val="1E4B82"/>
          </a:solidFill>
          <a:ln>
            <a:solidFill>
              <a:srgbClr val="1E4B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EAFF"/>
                </a:solidFill>
              </a:rPr>
              <a:t>2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5449824" y="2505456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E8EEF6"/>
                </a:solidFill>
              </a:rPr>
              <a:t>Ask for the last serious inbound issue and reconstruct where the first signal appeared.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5010912" y="3246120"/>
            <a:ext cx="310896" cy="219456"/>
          </a:xfrm>
          <a:prstGeom prst="rect">
            <a:avLst/>
          </a:prstGeom>
          <a:solidFill>
            <a:srgbClr val="1E4B82"/>
          </a:solidFill>
          <a:ln>
            <a:solidFill>
              <a:srgbClr val="1E4B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EAFF"/>
                </a:solidFill>
              </a:rPr>
              <a:t>3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5449824" y="3236976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E8EEF6"/>
                </a:solidFill>
              </a:rPr>
              <a:t>Offer a 10–14 week pilot with uploads first and no ERP dependency.</a:t>
            </a:r>
            <a:endParaRPr lang="en-US" sz="1060" dirty="0"/>
          </a:p>
        </p:txBody>
      </p:sp>
      <p:sp>
        <p:nvSpPr>
          <p:cNvPr id="41" name="Text 39"/>
          <p:cNvSpPr/>
          <p:nvPr/>
        </p:nvSpPr>
        <p:spPr>
          <a:xfrm>
            <a:off x="5010912" y="3977640"/>
            <a:ext cx="310896" cy="219456"/>
          </a:xfrm>
          <a:prstGeom prst="rect">
            <a:avLst/>
          </a:prstGeom>
          <a:solidFill>
            <a:srgbClr val="1E4B82"/>
          </a:solidFill>
          <a:ln>
            <a:solidFill>
              <a:srgbClr val="1E4B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EAFF"/>
                </a:solidFill>
              </a:rPr>
              <a:t>4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5449824" y="3968496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E8EEF6"/>
                </a:solidFill>
              </a:rPr>
              <a:t>Anchor success on stock-cover confidence, exception speed and sponsor visibility.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5010912" y="4709160"/>
            <a:ext cx="310896" cy="219456"/>
          </a:xfrm>
          <a:prstGeom prst="rect">
            <a:avLst/>
          </a:prstGeom>
          <a:solidFill>
            <a:srgbClr val="1E4B82"/>
          </a:solidFill>
          <a:ln>
            <a:solidFill>
              <a:srgbClr val="1E4B8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9EAFF"/>
                </a:solidFill>
              </a:rPr>
              <a:t>5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5449824" y="4700016"/>
            <a:ext cx="5440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E8EEF6"/>
                </a:solidFill>
              </a:rPr>
              <a:t>Use one logo / proof point to move into adjacent integrated producers and eastern-belt plants.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8275320" y="5074920"/>
            <a:ext cx="2907792" cy="914400"/>
          </a:xfrm>
          <a:prstGeom prst="roundRect">
            <a:avLst>
              <a:gd name="adj" fmla="val 12000"/>
            </a:avLst>
          </a:prstGeom>
          <a:solidFill>
            <a:srgbClr val="17375E"/>
          </a:solidFill>
          <a:ln w="12700">
            <a:solidFill>
              <a:srgbClr val="17375E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485632" y="5276088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Initial commercial framing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485632" y="55046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E9F7"/>
                </a:solidFill>
              </a:rPr>
              <a:t>Enterprise pilot fee + implementation; annual subscription expands by plant / network scope, not seats alone.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" y="644652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8794"/>
                </a:solidFill>
              </a:rPr>
              <a:t>Steel-specific inbound control tower for raw-material continuity risk</a:t>
            </a:r>
            <a:endParaRPr lang="en-US" sz="8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1954</Words>
  <Application>Microsoft Macintosh PowerPoint</Application>
  <PresentationFormat>Widescreen</PresentationFormat>
  <Paragraphs>381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SteelOps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SteelOps Client Presentation</dc:title>
  <dc:subject>Steel Inbound Control Tower</dc:subject>
  <dc:creator>OpenAI</dc:creator>
  <cp:lastModifiedBy>Raj Shankar</cp:lastModifiedBy>
  <cp:revision>2</cp:revision>
  <dcterms:created xsi:type="dcterms:W3CDTF">2026-04-16T06:46:33Z</dcterms:created>
  <dcterms:modified xsi:type="dcterms:W3CDTF">2026-04-16T18:49:38Z</dcterms:modified>
</cp:coreProperties>
</file>