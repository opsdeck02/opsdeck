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3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150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Title image: Tata Steel Kalinganagar Steel Plant photo — https://www.tatasteel.com/media/19013/steel-plant-pro7-img2.jpg
- Tata Steel Kalinganagar page context — https://www.tatasteel.com/wealsomaketomorrow/greener-tomorrow/tata-steel-kalinganagar-steel-plant/
- All other slide content is strategy synthesis based on memo research.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IBEF Iron &amp; Steel Industry in India (Nov 2025): India steel capacity 200.33 MT in FY25, anticipated 300 MT by FY30; secondary steel plants including MSMEs at 47% of capacity — https://www.ibef.org/industry/steel
- Reuters, Apr 9 2026: India targeting 400 million tons capacity by 2035-36 and reducing coking-coal import dependence to 80% from about 90% currently — https://www.reuters.com/sustainability/climate-energy/india-aiming-cut-steel-emissions-by-25-double-capacity-document-shows-2026-04-09/
- JSW Steel Integrated Report 2024-25, Chairman’s Message: domestic capacity 34.2 MTPA and target of 50 MTPA by FY2030-31 — https://www.jswsteel.in/jsw-steel-annual-report-2024-25/chairmans-message.html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Problem framing is strategy synthesis based on public reports and company disclosures, especially Tata Steel, SAIL, and India steel policy context.
- SAIL Annual Report 2023-24: raw-material detail including coking-coal dependence — https://sail.co.in/sites/default/files/ticker/2024-09/SAIL_Annual_Report2023-24.pdf
- Tata Steel Integrated Report FY2024-25: supply-chain and coking-coal analytics context — https://www.tatasteel.com/media/23971/ir-fy2024-25.pdf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claims; product framing is original synthesis based on memo research.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claims; architecture is original product synthesis.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claims; prioritization roadmap is original product strategy.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JSW Steel Integrated Report 2024-25: 34.2 MTPA domestic capacity and 50 MTPA target — https://www.jswsteel.in/jsw-steel-annual-report-2024-25/chairmans-message.html
- Tata Steel Integrated Report FY2024-25: supply chain manages over 100 million tonnes of materials annually — https://www.tatasteel.com/media/23971/ir-fy2024-25.pdf
- AM/NS India official site: Andhra Pradesh integrated steel plant with 8.2 MTPA capacity — https://www.amns.in/
- IBEF Iron &amp; Steel Industry in India: secondary steel plants including MSMEs accounted for 47% of capacity in FY25 — https://www.ibef.org/industry/steel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All pricing bands are modeled assumptions from the founder memo, not public contract data.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claims; GTM motion is original founder strategy synthesis.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SAP official product page: next-gen SAP Ariba positioned as an AI-native source-to-pay suite — https://www.sap.com/products/spend-management/smart-source-to-pay-procurement-software.html
- Oracle official product page: Fusion Cloud Procurement positioned as an integrated source-to-settle suite — https://www.oracle.com/apac/erp/procurement/
- project44 visibility page: end-to-end visibility across orders and shipments — https://www.project44.com/platform/visibility/
- FourKites official site and solutions pages: AI supply-chain orchestration / inbound collaboration positioning — https://www.fourkites.com/ and https://www.fourkites.com/solutions/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Base public context: IBEF Iron &amp; Steel Industry in India (capacity and secondary share) — https://www.ibef.org/industry/steel
- Policy context: Reuters, Apr 9 2026 (400 million tons target; coking-coal import dependence from about 90% to 80%) — https://www.reuters.com/sustainability/climate-energy/india-aiming-cut-steel-emissions-by-25-double-capacity-document-shows-2026-04-09/
- All account counts, ACVs, and ARR ranges on this slide are modeled assumptions from the founder memo, not public market data.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Closing synthesis based on all prior research; no new external claims on this slide.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83A5A"/>
          </a:solidFill>
          <a:ln w="12700">
            <a:solidFill>
              <a:srgbClr val="18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92040" cy="6858000"/>
          </a:xfrm>
          <a:prstGeom prst="rect">
            <a:avLst/>
          </a:prstGeom>
          <a:solidFill>
            <a:srgbClr val="0D1A2A"/>
          </a:solidFill>
          <a:ln w="12700">
            <a:solidFill>
              <a:srgbClr val="0D1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tata_steel_hero.jpg"/>
          <p:cNvPicPr>
            <a:picLocks noChangeAspect="1"/>
          </p:cNvPicPr>
          <p:nvPr/>
        </p:nvPicPr>
        <p:blipFill>
          <a:blip r:embed="rId3"/>
          <a:srcRect l="17886" r="17886"/>
          <a:stretch/>
        </p:blipFill>
        <p:spPr>
          <a:xfrm>
            <a:off x="4572000" y="0"/>
            <a:ext cx="7619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091522">
              <a:alpha val="66000"/>
            </a:srgbClr>
          </a:solidFill>
          <a:ln w="12700">
            <a:solidFill>
              <a:srgbClr val="0915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76656" y="1024128"/>
            <a:ext cx="73152" cy="33375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96112" y="9601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SteelOps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Inbound Control Tower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14400" y="26060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7EDF5"/>
                </a:solidFill>
              </a:rPr>
              <a:t>The operating layer for raw-material continuity in Indian steel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14400" y="3090672"/>
            <a:ext cx="35204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A founder pitch for a steel-specific control tower that turns shipment visibility into stock-cover decisions, action workflows, and measurable operating ROI.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96112" y="4645152"/>
            <a:ext cx="3566160" cy="841248"/>
          </a:xfrm>
          <a:prstGeom prst="roundRect">
            <a:avLst>
              <a:gd name="adj" fmla="val 8696"/>
            </a:avLst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60704" y="47914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this matters now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60704" y="501091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3F6FA"/>
                </a:solidFill>
              </a:rPr>
              <a:t>Capacity is growing. Coking coal remains import-dependent. Operations still run through fragmented systems and manual escalation.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766560" y="6126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</a:rPr>
              <a:t>Founder memo companion: pricing, ICPs, GTM, competition, and market model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steel is scaling while inbound complexity remains manually coordinated.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50876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A5A"/>
                </a:solidFill>
              </a:rPr>
              <a:t>200.33 MT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96112" y="198424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India steel capacity in FY25; public estimate says 300 MT by FY30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132588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13632" y="150876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A5A"/>
                </a:solidFill>
              </a:rPr>
              <a:t>~90%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913632" y="198424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Current coking-coal import dependence in public policy reporting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32588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656832" y="1508760"/>
            <a:ext cx="20482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A5A"/>
                </a:solidFill>
              </a:rPr>
              <a:t>47%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656832" y="1984248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Share of secondary steel plants including MSMEs in FY25 capacity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0" y="1325880"/>
            <a:ext cx="22402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08592" y="1508760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A5A"/>
                </a:solidFill>
              </a:rPr>
              <a:t>34.2→50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08592" y="198424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JSW domestic MTPA capacity target path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64008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3246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A5A"/>
                </a:solidFill>
              </a:rPr>
              <a:t>Three structural tailwinds for SteelOps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65760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</a:rPr>
              <a:t>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24712" y="3648456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More plants, more corridors, and more interdependencies as capacity expands.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416966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</a:rPr>
              <a:t>•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24712" y="4160520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Import dependence keeps raw-material visibility central to continuity.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468172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7722"/>
                </a:solidFill>
              </a:rPr>
              <a:t>•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124712" y="4672584"/>
            <a:ext cx="5596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02124"/>
                </a:solidFill>
              </a:rPr>
              <a:t>ERP, freight spreadsheets, and partner emails still leave a decision gap.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60920" y="3063240"/>
            <a:ext cx="4069080" cy="2834640"/>
          </a:xfrm>
          <a:prstGeom prst="roundRect">
            <a:avLst>
              <a:gd name="adj" fmla="val 2581"/>
            </a:avLst>
          </a:prstGeom>
          <a:solidFill>
            <a:srgbClr val="183A5A"/>
          </a:solidFill>
          <a:ln w="12700">
            <a:solidFill>
              <a:srgbClr val="18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35240" y="33101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The category opening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3657600"/>
            <a:ext cx="347472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Generic procurement software captures transactions. Generic visibility platforms track movement. Steel still needs a consequence engine that answers: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Which cargo matters first?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Which plant hits a cover threshold first?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What action should happen now?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 inside the plant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Inbound disruptions are visible in fragments but rarely managed in one operating loop.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340864" y="2304288"/>
            <a:ext cx="256032" cy="0"/>
          </a:xfrm>
          <a:prstGeom prst="line">
            <a:avLst/>
          </a:prstGeom>
          <a:noFill/>
          <a:ln w="12700">
            <a:solidFill>
              <a:srgbClr val="BFD0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306824" y="2304288"/>
            <a:ext cx="256032" cy="0"/>
          </a:xfrm>
          <a:prstGeom prst="line">
            <a:avLst/>
          </a:prstGeom>
          <a:noFill/>
          <a:ln w="12700">
            <a:solidFill>
              <a:srgbClr val="BFD0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72784" y="2304288"/>
            <a:ext cx="256032" cy="0"/>
          </a:xfrm>
          <a:prstGeom prst="line">
            <a:avLst/>
          </a:prstGeom>
          <a:noFill/>
          <a:ln w="12700">
            <a:solidFill>
              <a:srgbClr val="BFD0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38744" y="2304288"/>
            <a:ext cx="256032" cy="0"/>
          </a:xfrm>
          <a:prstGeom prst="line">
            <a:avLst/>
          </a:prstGeom>
          <a:noFill/>
          <a:ln w="12700">
            <a:solidFill>
              <a:srgbClr val="BFD0E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5681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83A5A"/>
                </a:solidFill>
              </a:rPr>
              <a:t>Supplier / origin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2688" y="22311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202124"/>
                </a:solidFill>
              </a:rPr>
              <a:t>Docs late or quality shifts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1389888" y="2642616"/>
            <a:ext cx="365760" cy="128016"/>
          </a:xfrm>
          <a:prstGeom prst="ellipse">
            <a:avLst/>
          </a:prstGeom>
          <a:solidFill>
            <a:srgbClr val="FCE4E1"/>
          </a:solidFill>
          <a:ln w="12700">
            <a:solidFill>
              <a:srgbClr val="FCE4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17320" y="26426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3B2F"/>
                </a:solidFill>
              </a:rPr>
              <a:t>risk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78892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80360" y="195681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83A5A"/>
                </a:solidFill>
              </a:rPr>
              <a:t>Vessel / cargo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898648" y="22311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202124"/>
                </a:solidFill>
              </a:rPr>
              <a:t>ETA slips and parcel changes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3355848" y="2642616"/>
            <a:ext cx="365760" cy="128016"/>
          </a:xfrm>
          <a:prstGeom prst="ellipse">
            <a:avLst/>
          </a:prstGeom>
          <a:solidFill>
            <a:srgbClr val="FCE4E1"/>
          </a:solidFill>
          <a:ln w="12700">
            <a:solidFill>
              <a:srgbClr val="FCE4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26426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3B2F"/>
                </a:solidFill>
              </a:rPr>
              <a:t>risk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75488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46320" y="195681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83A5A"/>
                </a:solidFill>
              </a:rPr>
              <a:t>Port / discharge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64608" y="22311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202124"/>
                </a:solidFill>
              </a:rPr>
              <a:t>Berth delay and demurrage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5321808" y="2642616"/>
            <a:ext cx="365760" cy="128016"/>
          </a:xfrm>
          <a:prstGeom prst="ellipse">
            <a:avLst/>
          </a:prstGeom>
          <a:solidFill>
            <a:srgbClr val="FCE4E1"/>
          </a:solidFill>
          <a:ln w="12700">
            <a:solidFill>
              <a:srgbClr val="FCE4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9240" y="26426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3B2F"/>
                </a:solidFill>
              </a:rPr>
              <a:t>risk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72084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12280" y="195681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83A5A"/>
                </a:solidFill>
              </a:rPr>
              <a:t>Rail / road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830568" y="22311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202124"/>
                </a:solidFill>
              </a:rPr>
              <a:t>Evacuation mismatch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7287768" y="2642616"/>
            <a:ext cx="365760" cy="128016"/>
          </a:xfrm>
          <a:prstGeom prst="ellipse">
            <a:avLst/>
          </a:prstGeom>
          <a:solidFill>
            <a:srgbClr val="FCE4E1"/>
          </a:solidFill>
          <a:ln w="12700">
            <a:solidFill>
              <a:srgbClr val="FCE4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0" y="26426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3B2F"/>
                </a:solidFill>
              </a:rPr>
              <a:t>risk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868680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778240" y="195681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83A5A"/>
                </a:solidFill>
              </a:rPr>
              <a:t>Plant / yard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796528" y="2231136"/>
            <a:ext cx="12801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202124"/>
                </a:solidFill>
              </a:rPr>
              <a:t>ERP says stock exists; cover still at risk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9253728" y="2642616"/>
            <a:ext cx="365760" cy="128016"/>
          </a:xfrm>
          <a:prstGeom prst="ellipse">
            <a:avLst/>
          </a:prstGeom>
          <a:solidFill>
            <a:srgbClr val="FCE4E1"/>
          </a:solidFill>
          <a:ln w="12700">
            <a:solidFill>
              <a:srgbClr val="FCE4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81160" y="26426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73B2F"/>
                </a:solidFill>
              </a:rPr>
              <a:t>risk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4672" y="3657600"/>
            <a:ext cx="65379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7552" y="38587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A5A"/>
                </a:solidFill>
              </a:rPr>
              <a:t>What breaks operationally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87552" y="422452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C73B2F"/>
                </a:solidFill>
              </a:rPr>
              <a:t>•</a:t>
            </a:r>
            <a:endParaRPr lang="en-US" sz="1580" dirty="0"/>
          </a:p>
        </p:txBody>
      </p:sp>
      <p:sp>
        <p:nvSpPr>
          <p:cNvPr id="36" name="Text 34"/>
          <p:cNvSpPr/>
          <p:nvPr/>
        </p:nvSpPr>
        <p:spPr>
          <a:xfrm>
            <a:off x="1152144" y="4215384"/>
            <a:ext cx="5870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202124"/>
                </a:solidFill>
              </a:rPr>
              <a:t>No shared answer to which inbound issue matters most today.</a:t>
            </a:r>
            <a:endParaRPr lang="en-US" sz="1480" dirty="0"/>
          </a:p>
        </p:txBody>
      </p:sp>
      <p:sp>
        <p:nvSpPr>
          <p:cNvPr id="37" name="Text 35"/>
          <p:cNvSpPr/>
          <p:nvPr/>
        </p:nvSpPr>
        <p:spPr>
          <a:xfrm>
            <a:off x="987552" y="464515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C73B2F"/>
                </a:solidFill>
              </a:rPr>
              <a:t>•</a:t>
            </a:r>
            <a:endParaRPr lang="en-US" sz="1580" dirty="0"/>
          </a:p>
        </p:txBody>
      </p:sp>
      <p:sp>
        <p:nvSpPr>
          <p:cNvPr id="38" name="Text 36"/>
          <p:cNvSpPr/>
          <p:nvPr/>
        </p:nvSpPr>
        <p:spPr>
          <a:xfrm>
            <a:off x="1152144" y="4636008"/>
            <a:ext cx="5870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202124"/>
                </a:solidFill>
              </a:rPr>
              <a:t>Delayed cargoes are not translated into plant-level stock-cover consequence.</a:t>
            </a:r>
            <a:endParaRPr lang="en-US" sz="1480" dirty="0"/>
          </a:p>
        </p:txBody>
      </p:sp>
      <p:sp>
        <p:nvSpPr>
          <p:cNvPr id="39" name="Text 37"/>
          <p:cNvSpPr/>
          <p:nvPr/>
        </p:nvSpPr>
        <p:spPr>
          <a:xfrm>
            <a:off x="987552" y="506577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80" b="1" dirty="0">
                <a:solidFill>
                  <a:srgbClr val="C73B2F"/>
                </a:solidFill>
              </a:rPr>
              <a:t>•</a:t>
            </a:r>
            <a:endParaRPr lang="en-US" sz="1580" dirty="0"/>
          </a:p>
        </p:txBody>
      </p:sp>
      <p:sp>
        <p:nvSpPr>
          <p:cNvPr id="40" name="Text 38"/>
          <p:cNvSpPr/>
          <p:nvPr/>
        </p:nvSpPr>
        <p:spPr>
          <a:xfrm>
            <a:off x="1152144" y="5056632"/>
            <a:ext cx="5870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80" dirty="0">
                <a:solidFill>
                  <a:srgbClr val="202124"/>
                </a:solidFill>
              </a:rPr>
              <a:t>Demurrage, quality, and inland movement sit in different teams and files.</a:t>
            </a:r>
            <a:endParaRPr lang="en-US" sz="1480" dirty="0"/>
          </a:p>
        </p:txBody>
      </p:sp>
      <p:sp>
        <p:nvSpPr>
          <p:cNvPr id="41" name="Shape 39"/>
          <p:cNvSpPr/>
          <p:nvPr/>
        </p:nvSpPr>
        <p:spPr>
          <a:xfrm>
            <a:off x="7607808" y="3611880"/>
            <a:ext cx="3822192" cy="1920240"/>
          </a:xfrm>
          <a:prstGeom prst="roundRect">
            <a:avLst>
              <a:gd name="adj" fmla="val 3810"/>
            </a:avLst>
          </a:prstGeom>
          <a:solidFill>
            <a:srgbClr val="FFF7F5"/>
          </a:solidFill>
          <a:ln w="12700">
            <a:solidFill>
              <a:srgbClr val="F0D1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45552" y="38404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3B2F"/>
                </a:solidFill>
              </a:rPr>
              <a:t>Result: steel runs on heroics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845552" y="4187952"/>
            <a:ext cx="320040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124"/>
                </a:solidFill>
              </a:rPr>
              <a:t>Teams bridge the gap with calls, spreadsheets, and escalations. The true cost is not only delay — it is reduced confidence, excess safety stock, emergency action, and avoidable plant-risk exposure.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927848" y="57770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A5A"/>
                </a:solidFill>
              </a:rPr>
              <a:t>A control tower is valuable only if it fuses the fragments into one action room.</a:t>
            </a:r>
            <a:endParaRPr lang="en-US" sz="135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steel-specific operating layer that helps teams see, decide, and act before a cover breach becomes a crisis.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23444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2893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A5A"/>
                </a:solidFill>
              </a:rPr>
              <a:t>1  See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069080" y="123444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42232" y="12893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A5A"/>
                </a:solidFill>
              </a:rPr>
              <a:t>2  Decide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06640" y="1234440"/>
            <a:ext cx="1508760" cy="310896"/>
          </a:xfrm>
          <a:prstGeom prst="roundRect">
            <a:avLst>
              <a:gd name="adj" fmla="val 35294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79792" y="12893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83A5A"/>
                </a:solidFill>
              </a:rPr>
              <a:t>3  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2926080" cy="4297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172821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graph of inbound reality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2020824"/>
            <a:ext cx="2596896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ERP shipments, vessel and port milestones, inland movements, quality status, and plant receipts into a single live event graph.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material, route, and plant sees the same truth.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30752" y="1600200"/>
            <a:ext cx="2926080" cy="4297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95344" y="172821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Consequence engine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95344" y="2020824"/>
            <a:ext cx="2596896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Translate movement changes into stock-cover risk, demurrage exposure, unloading priority, and likely next actions.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is valuable because it answers “so what?” not only “where is it?”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29984" y="1600200"/>
            <a:ext cx="47091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94576" y="1728216"/>
            <a:ext cx="4379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room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94576" y="2020824"/>
            <a:ext cx="4379976" cy="3767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case when severity crosses a threshold. Assign owners. Track actions. Escalate late tasks. Preserve the audit trail.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how the platform becomes part of the weekly operating rhythm.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4114800"/>
            <a:ext cx="3474720" cy="1188720"/>
          </a:xfrm>
          <a:prstGeom prst="roundRect">
            <a:avLst>
              <a:gd name="adj" fmla="val 4615"/>
            </a:avLst>
          </a:prstGeom>
          <a:solidFill>
            <a:srgbClr val="183A5A"/>
          </a:solidFill>
          <a:ln w="12700">
            <a:solidFill>
              <a:srgbClr val="18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516368" y="42611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Critical event example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16368" y="4507992"/>
            <a:ext cx="2880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Coking-coal vessel delayed 36h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Cover at Plant A falls to 4.2 days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Recommended action: reprioritize discharge + transfer cover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control layer, not another system of record.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6492240" cy="548640"/>
          </a:xfrm>
          <a:prstGeom prst="roundRect">
            <a:avLst>
              <a:gd name="adj" fmla="val 8333"/>
            </a:avLst>
          </a:prstGeom>
          <a:solidFill>
            <a:srgbClr val="183A5A"/>
          </a:solidFill>
          <a:ln w="12700">
            <a:solidFill>
              <a:srgbClr val="18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15568" y="15270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Experience layer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154680" y="152704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Control rooms, role-based views, executive summaries, APIs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914400" y="2176272"/>
            <a:ext cx="6492240" cy="548640"/>
          </a:xfrm>
          <a:prstGeom prst="roundRect">
            <a:avLst>
              <a:gd name="adj" fmla="val 8333"/>
            </a:avLst>
          </a:prstGeom>
          <a:solidFill>
            <a:srgbClr val="245079"/>
          </a:solidFill>
          <a:ln w="12700">
            <a:solidFill>
              <a:srgbClr val="2450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15568" y="228600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Workflow layer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154680" y="228600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Case rooms, action assignments, escalations, audit trail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14400" y="2935224"/>
            <a:ext cx="6492240" cy="548640"/>
          </a:xfrm>
          <a:prstGeom prst="roundRect">
            <a:avLst>
              <a:gd name="adj" fmla="val 8333"/>
            </a:avLst>
          </a:prstGeom>
          <a:solidFill>
            <a:srgbClr val="2F6DB2"/>
          </a:solidFill>
          <a:ln w="12700">
            <a:solidFill>
              <a:srgbClr val="2F6D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30449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Decision engine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154680" y="304495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ETA confidence, stock cover, severity, playbooks, landed-cost logic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14400" y="3694176"/>
            <a:ext cx="6492240" cy="548640"/>
          </a:xfrm>
          <a:prstGeom prst="roundRect">
            <a:avLst>
              <a:gd name="adj" fmla="val 8333"/>
            </a:avLst>
          </a:prstGeom>
          <a:solidFill>
            <a:srgbClr val="6E93BA"/>
          </a:solidFill>
          <a:ln w="12700">
            <a:solidFill>
              <a:srgbClr val="6E9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15568" y="38039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Event fabric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154680" y="380390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FFFFFF"/>
                </a:solidFill>
              </a:rPr>
              <a:t>Milestone ingestion, event changes, state transitions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14400" y="4453128"/>
            <a:ext cx="6492240" cy="548640"/>
          </a:xfrm>
          <a:prstGeom prst="roundRect">
            <a:avLst>
              <a:gd name="adj" fmla="val 8333"/>
            </a:avLst>
          </a:prstGeom>
          <a:solidFill>
            <a:srgbClr val="BFD0E1"/>
          </a:solidFill>
          <a:ln w="12700">
            <a:solidFill>
              <a:srgbClr val="BFD0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15568" y="456285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3A5A"/>
                </a:solidFill>
              </a:rPr>
              <a:t>Canonical steel data model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154680" y="45628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A5A"/>
                </a:solidFill>
              </a:rPr>
              <a:t>Plant, material, route, lot, quality, shipment, cover policy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914400" y="5212080"/>
            <a:ext cx="6492240" cy="548640"/>
          </a:xfrm>
          <a:prstGeom prst="roundRect">
            <a:avLst>
              <a:gd name="adj" fmla="val 8333"/>
            </a:avLst>
          </a:prstGeom>
          <a:solidFill>
            <a:srgbClr val="E8EFF7"/>
          </a:solidFill>
          <a:ln w="12700">
            <a:solidFill>
              <a:srgbClr val="E8EF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15568" y="53218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3A5A"/>
                </a:solidFill>
              </a:rPr>
              <a:t>Connectors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154680" y="53218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183A5A"/>
                </a:solidFill>
              </a:rPr>
              <a:t>ERP, labs, gate/weighbridge, port, vessel, rail, road, email uploads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7818120" y="1572768"/>
            <a:ext cx="3520440" cy="452628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65008" y="181051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A5A"/>
                </a:solidFill>
              </a:rPr>
              <a:t>Architecture principles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65008" y="219456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E87722"/>
                </a:solidFill>
              </a:rPr>
              <a:t>•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8229600" y="2185416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2124"/>
                </a:solidFill>
              </a:rPr>
              <a:t>Overlay SAP, Oracle, and internal systems instead of replacing them.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065008" y="26700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E87722"/>
                </a:solidFill>
              </a:rPr>
              <a:t>•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8229600" y="266090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2124"/>
                </a:solidFill>
              </a:rPr>
              <a:t>Encode steel-native semantics such as stock cover and material criticality.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8065008" y="314553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E87722"/>
                </a:solidFill>
              </a:rPr>
              <a:t>•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8229600" y="3136392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2124"/>
                </a:solidFill>
              </a:rPr>
              <a:t>Start with rules and workflow trust; add machine learning after adoption.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8065008" y="362102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b="1" dirty="0">
                <a:solidFill>
                  <a:srgbClr val="E87722"/>
                </a:solidFill>
              </a:rPr>
              <a:t>•</a:t>
            </a:r>
            <a:endParaRPr lang="en-US" sz="1420" dirty="0"/>
          </a:p>
        </p:txBody>
      </p:sp>
      <p:sp>
        <p:nvSpPr>
          <p:cNvPr id="31" name="Text 29"/>
          <p:cNvSpPr/>
          <p:nvPr/>
        </p:nvSpPr>
        <p:spPr>
          <a:xfrm>
            <a:off x="8229600" y="36118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2124"/>
                </a:solidFill>
              </a:rPr>
              <a:t>Use every resolved event as training data and proof of ROI.</a:t>
            </a:r>
            <a:endParaRPr lang="en-US" sz="132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prioritization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the operating room first; expand into higher-value modules after trust and usage exist.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59105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— make the control room indispensable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1883664"/>
            <a:ext cx="3145536" cy="3995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Shipment visibility and milestone normalization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Stock-cover forecasting by plant and material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Exception severity and case-room workflow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Executive risk view and daily digest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Basic demurrage visibility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prove the team can identify the right risk sooner and close actions faster.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70832" y="146304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35424" y="159105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V1 — move from visibility to measurable savings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35424" y="1883664"/>
            <a:ext cx="3145536" cy="3995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Supplier and service-provider collaboration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Lane and ETA scorecards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Landed-cost allocation and leakage analytics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Quality status overlay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Role-based weekly operating packs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convert a useful product into a repeatable ROI engine.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10144" y="1463040"/>
            <a:ext cx="3474720" cy="45262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74736" y="159105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V2 — deepen the strategic moat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74736" y="1883664"/>
            <a:ext cx="3145536" cy="3995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Probabilistic ETA and cover forecasts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Scenario simulation and alternate routing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Blend-aware recommendation support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Multi-plant optimization views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Carbon / traceability modules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become the system leadership trusts for higher-stakes decisions.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ICP segmentation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large integrated accounts, then productize for the broader secondary ecosystem.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JSW Steel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37944"/>
            <a:ext cx="241401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Country’s largest steelmaker with 34.2 MTPA domestic capacity and a 50 MTPA target path.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wedge: one integrated plant or corridor where continuity and scale complexity are visible.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0" y="141732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22192" y="154533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Tata Steel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22192" y="1837944"/>
            <a:ext cx="241401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 chain manages 100+ million tonnes of materials annually; high digital maturity.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wedge: complement internal analytics with a cross-functional action room.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65392" y="1417320"/>
            <a:ext cx="2743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29984" y="154533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AM/NS India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29984" y="1837944"/>
            <a:ext cx="241401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flat-carbon player with a new Andhra plant highlighted at 8.2 MTPA on the official site.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wedge: growth-ready operating model across current and expanding assets.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73184" y="141732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37776" y="1545336"/>
            <a:ext cx="1591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Secondary players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37776" y="1837944"/>
            <a:ext cx="159105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47% of FY25 capacity sits in secondary plants including MSMEs.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wedge: a lighter, faster edition.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9808" y="3840480"/>
            <a:ext cx="10643616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40782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A5A"/>
                </a:solidFill>
              </a:rPr>
              <a:t>Segmentation logic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444398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722"/>
                </a:solidFill>
              </a:rPr>
              <a:t>•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4712" y="4434840"/>
            <a:ext cx="9710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Tier A integrated leaders buy for continuity, executive visibility, and multi-site complexity.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84632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722"/>
                </a:solidFill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4712" y="4837176"/>
            <a:ext cx="9710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Tier B and C buyers buy for faster predictability and a lighter implementation burden.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248656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722"/>
                </a:solidFill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24712" y="5239512"/>
            <a:ext cx="9710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2124"/>
                </a:solidFill>
              </a:rPr>
              <a:t>The same data model can serve both, but packaging and sales motion must differ.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for operational scope and plant risk, not for user seats alone.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2468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A5A"/>
                </a:solidFill>
              </a:rPr>
              <a:t>₹45L–₹90L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07568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Pilot edition — one plant / limited materials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01568" y="141732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160020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A5A"/>
                </a:solidFill>
              </a:rPr>
              <a:t>₹1.2–₹2.5Cr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566160" y="2075688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Enterprise site edition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90488" y="141732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5080" y="160020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A5A"/>
                </a:solidFill>
              </a:rPr>
              <a:t>₹3–₹6Cr+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355080" y="2075688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Group edition — multi-site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33688" y="1417320"/>
            <a:ext cx="23317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98280" y="160020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83A5A"/>
                </a:solidFill>
              </a:rPr>
              <a:t>₹18L–₹45L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098280" y="2075688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7085"/>
                </a:solidFill>
              </a:rPr>
              <a:t>Secondary edition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" y="3063240"/>
            <a:ext cx="507492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191256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revenue expands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483864"/>
            <a:ext cx="4745736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 a single-plant control-room pilot.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to more materials and partner workflows.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landed-cost analytics, quality integration, and advanced forecasting.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into a multi-site operating layer before widening into traceability or broader procurement modules.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53328" y="3063240"/>
            <a:ext cx="5212080" cy="2697480"/>
          </a:xfrm>
          <a:prstGeom prst="roundRect">
            <a:avLst>
              <a:gd name="adj" fmla="val 2712"/>
            </a:avLst>
          </a:prstGeom>
          <a:solidFill>
            <a:srgbClr val="183A5A"/>
          </a:solidFill>
          <a:ln w="12700">
            <a:solidFill>
              <a:srgbClr val="18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0" y="32735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Pricing principles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365760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FFD19B"/>
                </a:solidFill>
              </a:rPr>
              <a:t>•</a:t>
            </a:r>
            <a:endParaRPr lang="en-US" sz="1530" dirty="0"/>
          </a:p>
        </p:txBody>
      </p:sp>
      <p:sp>
        <p:nvSpPr>
          <p:cNvPr id="22" name="Text 20"/>
          <p:cNvSpPr/>
          <p:nvPr/>
        </p:nvSpPr>
        <p:spPr>
          <a:xfrm>
            <a:off x="6473952" y="3648456"/>
            <a:ext cx="4361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FFFFFF"/>
                </a:solidFill>
              </a:rPr>
              <a:t>Separate implementation from ARR.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6309360" y="4096512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FFD19B"/>
                </a:solidFill>
              </a:rPr>
              <a:t>•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473952" y="4087368"/>
            <a:ext cx="4361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FFFFFF"/>
                </a:solidFill>
              </a:rPr>
              <a:t>Charge more for plants, categories, and collaboration modules.</a:t>
            </a:r>
            <a:endParaRPr lang="en-US" sz="1430" dirty="0"/>
          </a:p>
        </p:txBody>
      </p:sp>
      <p:sp>
        <p:nvSpPr>
          <p:cNvPr id="25" name="Text 23"/>
          <p:cNvSpPr/>
          <p:nvPr/>
        </p:nvSpPr>
        <p:spPr>
          <a:xfrm>
            <a:off x="6309360" y="453542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30" b="1" dirty="0">
                <a:solidFill>
                  <a:srgbClr val="FFD19B"/>
                </a:solidFill>
              </a:rPr>
              <a:t>•</a:t>
            </a:r>
            <a:endParaRPr lang="en-US" sz="1530" dirty="0"/>
          </a:p>
        </p:txBody>
      </p:sp>
      <p:sp>
        <p:nvSpPr>
          <p:cNvPr id="26" name="Text 24"/>
          <p:cNvSpPr/>
          <p:nvPr/>
        </p:nvSpPr>
        <p:spPr>
          <a:xfrm>
            <a:off x="6473952" y="4526280"/>
            <a:ext cx="4361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dirty="0">
                <a:solidFill>
                  <a:srgbClr val="FFFFFF"/>
                </a:solidFill>
              </a:rPr>
              <a:t>Anchor every proposal to demurrage, stock-cover, and emergency-buy impact.</a:t>
            </a:r>
            <a:endParaRPr lang="en-US" sz="143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motion in India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Founder-led enterprise selling around one real disruption story, one plant, and one measurable pilot.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841248" y="1481328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53619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389888" y="141732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3A5A"/>
                </a:solidFill>
              </a:rPr>
              <a:t>Find the disruption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389888" y="165506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Map one recent incident where inbound uncertainty created pain.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41248" y="2340864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1248" y="239572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89888" y="227685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3A5A"/>
                </a:solidFill>
              </a:rPr>
              <a:t>Scope the wedge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389888" y="25146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Choose one plant and 1–3 critical categories.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41248" y="320040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1248" y="32552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89888" y="313639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3A5A"/>
                </a:solidFill>
              </a:rPr>
              <a:t>Quantify value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89888" y="33741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Build a case around cover risk, demurrage, and manual firefighting.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4059936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" y="411480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89888" y="399592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3A5A"/>
                </a:solidFill>
              </a:rPr>
              <a:t>Run the pilot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89888" y="423367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12–16 week deployment with weekly operating cadence.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248" y="4919472"/>
            <a:ext cx="384048" cy="384048"/>
          </a:xfrm>
          <a:prstGeom prst="ellipse">
            <a:avLst/>
          </a:prstGeom>
          <a:solidFill>
            <a:srgbClr val="183A5A"/>
          </a:solidFill>
          <a:ln w="12700">
            <a:solidFill>
              <a:srgbClr val="183A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248" y="497433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389888" y="485546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83A5A"/>
                </a:solidFill>
              </a:rPr>
              <a:t>Land &amp; expand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389888" y="50932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</a:rPr>
              <a:t>Add sites, categories, and premium modules.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4128" y="1810512"/>
            <a:ext cx="0" cy="3401568"/>
          </a:xfrm>
          <a:prstGeom prst="line">
            <a:avLst/>
          </a:prstGeom>
          <a:noFill/>
          <a:ln w="12700">
            <a:solidFill>
              <a:srgbClr val="D3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37960" y="1463040"/>
            <a:ext cx="2286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02552" y="159105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Champion map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02552" y="1883664"/>
            <a:ext cx="195681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champions: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Raw-materials head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Supply-chain / logistics head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Plant head / COO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979408" y="1463040"/>
            <a:ext cx="2286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44000" y="1591056"/>
            <a:ext cx="19568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Buying blockers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44000" y="1883664"/>
            <a:ext cx="195681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blockers: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ERP overlap concern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bandwidth worry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“We already have dashboards”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37960" y="3657600"/>
            <a:ext cx="47274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02552" y="3785616"/>
            <a:ext cx="4398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design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02552" y="4078224"/>
            <a:ext cx="4398264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Duration: 12–16 weeks.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one plant, 1–3 categories, a live action room.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criteria: better exception response, more confidence in cover risk, and a credible land-and-expand path.</a:t>
            </a:r>
            <a:endParaRPr lang="en-US" sz="11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Competitive gap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SteelOps lives between systems of record and horizontal visibility tools.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536192"/>
            <a:ext cx="1783080" cy="475488"/>
          </a:xfrm>
          <a:prstGeom prst="rect">
            <a:avLst/>
          </a:prstGeom>
          <a:solidFill>
            <a:srgbClr val="183A5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</a:rPr>
              <a:t>Category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2532888" y="1536192"/>
            <a:ext cx="2057400" cy="475488"/>
          </a:xfrm>
          <a:prstGeom prst="rect">
            <a:avLst/>
          </a:prstGeom>
          <a:solidFill>
            <a:srgbClr val="183A5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06040" y="1645920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</a:rPr>
              <a:t>Strong at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590288" y="1536192"/>
            <a:ext cx="2788920" cy="475488"/>
          </a:xfrm>
          <a:prstGeom prst="rect">
            <a:avLst/>
          </a:prstGeom>
          <a:solidFill>
            <a:srgbClr val="183A5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645920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</a:rPr>
              <a:t>Usually stops at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379208" y="1536192"/>
            <a:ext cx="3520440" cy="475488"/>
          </a:xfrm>
          <a:prstGeom prst="rect">
            <a:avLst/>
          </a:prstGeom>
          <a:solidFill>
            <a:srgbClr val="183A5A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52360" y="1645920"/>
            <a:ext cx="3374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</a:rPr>
              <a:t>Why SteelOps still matters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749808" y="2011680"/>
            <a:ext cx="1783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2121408"/>
            <a:ext cx="163677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02124"/>
                </a:solidFill>
              </a:rPr>
              <a:t>SAP Ariba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2532888" y="2011680"/>
            <a:ext cx="2057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2121408"/>
            <a:ext cx="191109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Procurement workflows, invoicing, supplier processes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590288" y="2011680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2121408"/>
            <a:ext cx="264261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Administrative control, not steel cover-risk actioning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7379208" y="2011680"/>
            <a:ext cx="3520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52360" y="2121408"/>
            <a:ext cx="33741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Adds steel-specific consequence and disruption workflow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49808" y="2816352"/>
            <a:ext cx="178308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2926080"/>
            <a:ext cx="163677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02124"/>
                </a:solidFill>
              </a:rPr>
              <a:t>Oracle Procurement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2532888" y="2816352"/>
            <a:ext cx="205740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606040" y="2926080"/>
            <a:ext cx="191109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Integrated source-to-settle backbone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4590288" y="2816352"/>
            <a:ext cx="278892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926080"/>
            <a:ext cx="264261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Strong procurement backbone, limited steel inbound command logic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7379208" y="2816352"/>
            <a:ext cx="352044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52360" y="2926080"/>
            <a:ext cx="33741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Complements ERP with a live operating room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749808" y="3621024"/>
            <a:ext cx="1783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3730752"/>
            <a:ext cx="163677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02124"/>
                </a:solidFill>
              </a:rPr>
              <a:t>project44</a:t>
            </a:r>
            <a:endParaRPr lang="en-US" sz="1130" dirty="0"/>
          </a:p>
        </p:txBody>
      </p:sp>
      <p:sp>
        <p:nvSpPr>
          <p:cNvPr id="30" name="Shape 28"/>
          <p:cNvSpPr/>
          <p:nvPr/>
        </p:nvSpPr>
        <p:spPr>
          <a:xfrm>
            <a:off x="2532888" y="3621024"/>
            <a:ext cx="2057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606040" y="3730752"/>
            <a:ext cx="191109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Multimodal shipment visibility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4590288" y="3621024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3730752"/>
            <a:ext cx="264261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Movement data without plant-specific material consequence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7379208" y="3621024"/>
            <a:ext cx="3520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52360" y="3730752"/>
            <a:ext cx="33741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Translates movement into stock-cover decisions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749808" y="4425696"/>
            <a:ext cx="178308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2960" y="4535424"/>
            <a:ext cx="163677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02124"/>
                </a:solidFill>
              </a:rPr>
              <a:t>FourKites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2532888" y="4425696"/>
            <a:ext cx="205740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606040" y="4535424"/>
            <a:ext cx="191109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Visibility and orchestration across broad networks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4590288" y="4425696"/>
            <a:ext cx="278892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63440" y="4535424"/>
            <a:ext cx="264261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Horizontal design, not steel-native workflows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7379208" y="4425696"/>
            <a:ext cx="3520440" cy="804672"/>
          </a:xfrm>
          <a:prstGeom prst="rect">
            <a:avLst/>
          </a:prstGeom>
          <a:solidFill>
            <a:srgbClr val="F9FBFD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452360" y="4535424"/>
            <a:ext cx="33741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Encodes material criticality and plant action playbooks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749808" y="5230368"/>
            <a:ext cx="17830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2960" y="5340096"/>
            <a:ext cx="163677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202124"/>
                </a:solidFill>
              </a:rPr>
              <a:t>Homegrown dashboards</a:t>
            </a:r>
            <a:endParaRPr lang="en-US" sz="1130" dirty="0"/>
          </a:p>
        </p:txBody>
      </p:sp>
      <p:sp>
        <p:nvSpPr>
          <p:cNvPr id="46" name="Shape 44"/>
          <p:cNvSpPr/>
          <p:nvPr/>
        </p:nvSpPr>
        <p:spPr>
          <a:xfrm>
            <a:off x="2532888" y="5230368"/>
            <a:ext cx="2057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606040" y="5340096"/>
            <a:ext cx="191109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Familiar reporting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4590288" y="5230368"/>
            <a:ext cx="2788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63440" y="5340096"/>
            <a:ext cx="264261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Brittle, fragmented, weak workflow and auditability</a:t>
            </a:r>
            <a:endParaRPr lang="en-US" sz="1130" dirty="0"/>
          </a:p>
        </p:txBody>
      </p:sp>
      <p:sp>
        <p:nvSpPr>
          <p:cNvPr id="50" name="Shape 48"/>
          <p:cNvSpPr/>
          <p:nvPr/>
        </p:nvSpPr>
        <p:spPr>
          <a:xfrm>
            <a:off x="7379208" y="5230368"/>
            <a:ext cx="35204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52360" y="5340096"/>
            <a:ext cx="3374136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202124"/>
                </a:solidFill>
              </a:rPr>
              <a:t>Turns insight into repeatable action and governance</a:t>
            </a:r>
            <a:endParaRPr lang="en-US" sz="113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474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estimates (may be outdated): India beachhead market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76656" y="74980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disciplined bottom-up view is more credible than an inflated TAM story.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3840480" cy="438912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105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A5A"/>
                </a:solidFill>
              </a:rPr>
              <a:t>Modeled account layers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7722"/>
                </a:solidFill>
              </a:rPr>
              <a:t>•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24712" y="2203704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24"/>
                </a:solidFill>
              </a:rPr>
              <a:t>Tier A integrated leaders: 8–12 accounts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60120" y="2706624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7722"/>
                </a:solidFill>
              </a:rPr>
              <a:t>•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24712" y="2697480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24"/>
                </a:solidFill>
              </a:rPr>
              <a:t>Tier B large regional / diversified plants: 15–25 accounts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960120" y="3200400"/>
            <a:ext cx="146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7722"/>
                </a:solidFill>
              </a:rPr>
              <a:t>•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124712" y="319125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02124"/>
                </a:solidFill>
              </a:rPr>
              <a:t>Tier C secondary-product edition: 60–120 accounts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4160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83A5A"/>
                </a:solidFill>
              </a:rPr>
              <a:t>Use case logic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0120" y="4443984"/>
            <a:ext cx="32004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2124"/>
                </a:solidFill>
              </a:rPr>
              <a:t>The product does not need every steel company in India to matter. A few flagship integrated wins plus land-and-expand can support a meaningful SaaS business.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5577840" y="4572000"/>
            <a:ext cx="1097280" cy="1143000"/>
          </a:xfrm>
          <a:prstGeom prst="roundRect">
            <a:avLst>
              <a:gd name="adj" fmla="val 4167"/>
            </a:avLst>
          </a:prstGeom>
          <a:solidFill>
            <a:srgbClr val="2F6DB2"/>
          </a:solidFill>
          <a:ln w="12700">
            <a:solidFill>
              <a:srgbClr val="2F6D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50992" y="473659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96128" y="501091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₹16–72Cr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12280" y="3794760"/>
            <a:ext cx="1097280" cy="1143000"/>
          </a:xfrm>
          <a:prstGeom prst="roundRect">
            <a:avLst>
              <a:gd name="adj" fmla="val 4167"/>
            </a:avLst>
          </a:prstGeom>
          <a:solidFill>
            <a:srgbClr val="4D86C4"/>
          </a:solidFill>
          <a:ln w="12700">
            <a:solidFill>
              <a:srgbClr val="4D8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85432" y="395935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0568" y="423367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₹12–62.5Cr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46720" y="3017520"/>
            <a:ext cx="1097280" cy="1143000"/>
          </a:xfrm>
          <a:prstGeom prst="roundRect">
            <a:avLst>
              <a:gd name="adj" fmla="val 4167"/>
            </a:avLst>
          </a:prstGeom>
          <a:solidFill>
            <a:srgbClr val="8EB0D4"/>
          </a:solidFill>
          <a:ln w="12700">
            <a:solidFill>
              <a:srgbClr val="8EB0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19872" y="318211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65008" y="345643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₹10.8–72Cr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281160" y="2240280"/>
            <a:ext cx="1097280" cy="1143000"/>
          </a:xfrm>
          <a:prstGeom prst="roundRect">
            <a:avLst>
              <a:gd name="adj" fmla="val 4167"/>
            </a:avLst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54312" y="24048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 beachhead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99448" y="2679192"/>
            <a:ext cx="987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</a:rPr>
              <a:t>Meaningful ARR base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0" y="179222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A5A"/>
                </a:solidFill>
              </a:rPr>
              <a:t>Illustrative ARR potential by layer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0" y="59253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These ranges come from modeled account counts and modeled ACVs in the founder memo; they are not reported market statistics.</a:t>
            </a:r>
            <a:endParaRPr lang="en-US" sz="108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F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5669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SteelOps can win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987552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CE6F0"/>
                </a:solidFill>
              </a:rPr>
              <a:t>The wedge is narrow enough to land, important enough to matter, and expandable enough to become the raw-material operating layer for steel.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025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 initial value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295144"/>
            <a:ext cx="291693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stock-cover surprises, improve action speed, and make inbound disruption visible to leadership.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5968" y="187452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20025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expansion path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80560" y="2295144"/>
            <a:ext cx="291693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from pilot to multi-site coverage, landed-cost analytics, quality overlays, and traceability.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82128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15240" dist="889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0" y="2002536"/>
            <a:ext cx="3191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3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2295144"/>
            <a:ext cx="319125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steel is scaling while import dependence and operational fragmentation remain unresolved.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4160520"/>
            <a:ext cx="10652760" cy="1554480"/>
          </a:xfrm>
          <a:prstGeom prst="roundRect">
            <a:avLst>
              <a:gd name="adj" fmla="val 4706"/>
            </a:avLst>
          </a:prstGeom>
          <a:solidFill>
            <a:srgbClr val="183A5A"/>
          </a:solidFill>
          <a:ln w="12700">
            <a:solidFill>
              <a:srgbClr val="3359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Ask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83080" y="4389120"/>
            <a:ext cx="9052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Use the founder memo and this deck to build the next step: target-account list, outreach narrative, pilot ROI calculator, and a live demo prototype. The company story is strongest when it sells a narrow mission-critical operating wedge first.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" y="6236208"/>
            <a:ext cx="6217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SteelOps = shipment visibility × stock-cover intelligence × action workflow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732520" y="62362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DCE6F0"/>
                </a:solidFill>
              </a:rPr>
              <a:t>Founder-ready package complete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73952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2586</TotalTime>
  <Words>2567</Words>
  <Application>Microsoft Macintosh PowerPoint</Application>
  <PresentationFormat>Widescreen</PresentationFormat>
  <Paragraphs>299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SteelOps Inbound Control Tower — Founder Pitch</dc:title>
  <dc:subject>SteelOps Inbound Control Tower founder pitch</dc:subject>
  <dc:creator>OpenAI</dc:creator>
  <cp:lastModifiedBy>Raj Shankar</cp:lastModifiedBy>
  <cp:revision>2</cp:revision>
  <dcterms:created xsi:type="dcterms:W3CDTF">2026-04-11T11:00:40Z</dcterms:created>
  <dcterms:modified xsi:type="dcterms:W3CDTF">2026-04-13T06:17:18Z</dcterms:modified>
</cp:coreProperties>
</file>